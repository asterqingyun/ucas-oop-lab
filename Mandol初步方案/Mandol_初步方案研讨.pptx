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9" r:id="rId4"/>
    <p:sldId id="25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9" r:id="rId14"/>
    <p:sldId id="290" r:id="rId15"/>
    <p:sldId id="292" r:id="rId16"/>
    <p:sldId id="293" r:id="rId17"/>
    <p:sldId id="29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88" d="100"/>
          <a:sy n="88" d="100"/>
        </p:scale>
        <p:origin x="285" y="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319" cy="7631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C08B-37E2-865A-C9A1-B701641A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3C08B-B676-73B2-22C0-F86A5FCF7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E7716-349C-DD5A-1FD8-F6D832F7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3311C-5BD4-E86C-9861-2D5C4EE8BD9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698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61F57-82F9-B015-45C6-CDBFAFB5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0998C-C975-E983-8C72-B262391EF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9F858-008F-9287-25C4-089146C26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B6D5F-6C58-5A6D-4EAA-D3D353D3FF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0474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B69C-BC7A-8319-2EE1-1DD3E296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668F3-E853-4204-9E52-B25BDC1D2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372E3-327D-3EE1-3AAA-E42446DF2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DCCBE-7BA1-212A-1534-FE151C7A13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8369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20E1-56FC-496A-7727-DBB05DEA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558B5-7432-DDEE-FECE-462F77B6C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EAE54-8524-E598-61BA-3FD72841C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1981F-2D9D-3C84-FFD2-C53C36DAD2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8063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9E87-F952-CF46-FF7C-327E2681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C5636-134C-CF80-A768-39376E9C8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560DB-546F-36D9-F810-661020EFB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C915F-F2F3-A540-2A2C-365A369AC8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1310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4A51-B8EC-4839-2927-39203D42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1EE61-8E80-8C74-C261-D6BB60988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A9717-D259-33F4-8F8E-E9C7DF4AC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37CB6-6A85-3BEB-F17E-D002AADB4F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4708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3431-B9E6-D065-EE38-1DB7EDFC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51CC9-B6B4-6FC7-4857-D53D30DC8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DB951-BA54-0520-FC92-1D61A3282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FFE36-94F5-1A6C-56B2-B28CFDB1C8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0759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326B-BC51-38AC-FC7C-66A9C061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AB103-7F30-6CC9-BE40-2F4DC79EE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350E1-E0E2-099E-82F4-C794E1544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FBC65-FD03-3952-0B8A-FAF4EB2FF14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1754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A5BF7-1598-2A8E-6746-401DD4B06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AF63-0B59-8B30-64B6-EE0E81CBA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2ECC3-C271-1F43-2316-F6519F3A9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0EDC6-8A18-CA1C-2D98-43B7832817D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0923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AFE1-F228-D74A-BB19-C4B9A4AB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A46F7-F9BA-2AFF-6EBB-5CEEFDD21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C3634-A04C-9B27-7F29-44B1541D5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/Users/wanli/Research/CodeX/E_Capability_Slides/Evolving Capability Reading List.md (user-provided reading notes)</a:t>
            </a:r>
          </a:p>
          <a:p>
            <a:r>
              <a:t>- /Users/wanli/Research/CodeX/E_Capability_Slides/Experience-driven Evolving.md (user-provided prior reading notes)</a:t>
            </a:r>
          </a:p>
          <a:p>
            <a:r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2398A-2381-E672-D991-BB02625F8F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7651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F26B1-4CF2-BB9A-46FA-BF358344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9D904-F290-9FF2-2A62-22188D308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ED7A5-8431-1540-1A44-A69AE4D32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/Evolving Capability Reading List.md (user-provided reading notes)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/Experience-driven Evolving.md (user-provided prior reading notes)</a:t>
            </a:r>
          </a:p>
          <a:p>
            <a:r>
              <a:rPr dirty="0"/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B255E-A99A-20E8-CECF-ABF99DC5C1A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4604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A0563-E40B-5EA3-989C-74DE27C5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9A034-9F13-083D-F3C9-64E5DDF34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2524D-1455-AD50-EF6F-6C6695A63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/Evolving Capability Reading List.md (user-provided reading notes)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/Experience-driven Evolving.md (user-provided prior reading notes)</a:t>
            </a:r>
          </a:p>
          <a:p>
            <a:r>
              <a:rPr dirty="0"/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E23A7-D19A-E2D6-E4B7-7EFAB2B443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1284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79B60-AF7B-671A-E18F-6CB12DD5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945B7-738B-B216-8CFD-6FC5B5CA4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DF971-805F-4441-E0D9-CF7D8DF04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/Evolving Capability Reading List.md (user-provided reading notes)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/Experience-driven Evolving.md (user-provided prior reading notes)</a:t>
            </a:r>
          </a:p>
          <a:p>
            <a:r>
              <a:rPr dirty="0"/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22DF4-7957-A3F7-6618-3611269250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6270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299A-1492-F87C-628E-CD98B3CF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F6D9A-C879-CE87-0CC3-54223EA33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32B20-764D-6303-6E09-D9495181D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/Evolving Capability Reading List.md (user-provided reading notes)</a:t>
            </a:r>
          </a:p>
          <a:p>
            <a:r>
              <a:rPr dirty="0"/>
              <a:t>- /Users/</a:t>
            </a:r>
            <a:r>
              <a:rPr dirty="0" err="1"/>
              <a:t>wanli</a:t>
            </a:r>
            <a:r>
              <a:rPr dirty="0"/>
              <a:t>/Research/</a:t>
            </a:r>
            <a:r>
              <a:rPr dirty="0" err="1"/>
              <a:t>CodeX</a:t>
            </a:r>
            <a:r>
              <a:rPr dirty="0"/>
              <a:t>/</a:t>
            </a:r>
            <a:r>
              <a:rPr dirty="0" err="1"/>
              <a:t>E_Capability_Slides</a:t>
            </a:r>
            <a:r>
              <a:rPr dirty="0"/>
              <a:t>/Experience-driven Evolving.md (user-provided prior reading notes)</a:t>
            </a:r>
          </a:p>
          <a:p>
            <a:r>
              <a:rPr dirty="0"/>
              <a:t>- Synthesis based on the update–storage–retrieval–consumption lifecycle described across the listed papers.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E5C08-A77A-265F-9472-39D780D04FA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054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2E67-2978-4066-8C01-76317F45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4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E39B17-1265-D386-D461-9600D869F0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D2AD651A-0CB0-EEE0-B7AD-473DC26B88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7D3AB4-6C27-04CF-EC43-63C120C8E3DE}"/>
              </a:ext>
            </a:extLst>
          </p:cNvPr>
          <p:cNvSpPr>
            <a:spLocks noGrp="1"/>
          </p:cNvSpPr>
          <p:nvPr/>
        </p:nvSpPr>
        <p:spPr>
          <a:xfrm>
            <a:off x="0" y="6654942"/>
            <a:ext cx="12192000" cy="20306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098568-89EB-6546-8EF4-44C090EA58CF}"/>
              </a:ext>
            </a:extLst>
          </p:cNvPr>
          <p:cNvSpPr>
            <a:spLocks noGrp="1"/>
          </p:cNvSpPr>
          <p:nvPr/>
        </p:nvSpPr>
        <p:spPr>
          <a:xfrm>
            <a:off x="90361" y="6604024"/>
            <a:ext cx="42351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i="1">
                <a:solidFill>
                  <a:schemeClr val="bg1"/>
                </a:solidFill>
                <a:latin typeface="Palatino Linotype"/>
                <a:ea typeface="Palatino Linotype"/>
                <a:cs typeface="Palatino Linotype"/>
              </a:rPr>
              <a:t>State Key Laboratory of AI Safety, ICT, CAS</a:t>
            </a:r>
          </a:p>
        </p:txBody>
      </p:sp>
      <p:pic>
        <p:nvPicPr>
          <p:cNvPr id="18" name="图片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42" y="551667"/>
            <a:ext cx="5524102" cy="740401"/>
          </a:xfrm>
          <a:prstGeom prst="rect">
            <a:avLst/>
          </a:prstGeom>
        </p:spPr>
      </p:pic>
      <p:sp>
        <p:nvSpPr>
          <p:cNvPr id="6" name="副标题 2">
            <a:extLst>
              <a:ext uri="{FF2B5EF4-FFF2-40B4-BE49-F238E27FC236}">
                <a16:creationId xmlns:a16="http://schemas.microsoft.com/office/drawing/2014/main" id="{5A81972F-1556-B58B-84AA-3A8B8B217D83}"/>
              </a:ext>
            </a:extLst>
          </p:cNvPr>
          <p:cNvSpPr>
            <a:spLocks noGrp="1"/>
          </p:cNvSpPr>
          <p:nvPr/>
        </p:nvSpPr>
        <p:spPr>
          <a:xfrm>
            <a:off x="7151275" y="553455"/>
            <a:ext cx="4855781" cy="859751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2400" b="1" spc="300">
                <a:solidFill>
                  <a:srgbClr val="0257A5"/>
                </a:solidFill>
                <a:latin typeface="微软雅黑"/>
                <a:ea typeface="微软雅黑"/>
                <a:cs typeface="微软雅黑"/>
              </a:rPr>
              <a:t>智能算法安全全国重点实验室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sz="2200" b="1">
                <a:solidFill>
                  <a:srgbClr val="0257A5"/>
                </a:solidFill>
                <a:latin typeface="Eras Medium ITC"/>
                <a:ea typeface="Eras Medium ITC"/>
                <a:cs typeface="Eras Medium ITC"/>
              </a:rPr>
              <a:t>State Key Laboratory of AI Safety</a:t>
            </a:r>
          </a:p>
        </p:txBody>
      </p:sp>
      <p:pic>
        <p:nvPicPr>
          <p:cNvPr id="20" name="图片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37" y="452559"/>
            <a:ext cx="960648" cy="96064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6791-8D14-44EF-BB03-CDFDEDBC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394" y="1087079"/>
            <a:ext cx="11371532" cy="4555172"/>
          </a:xfrm>
        </p:spPr>
        <p:txBody>
          <a:bodyPr/>
          <a:lstStyle>
            <a:lvl1pPr marL="216000" indent="-324000">
              <a:lnSpc>
                <a:spcPct val="110000"/>
              </a:lnSpc>
              <a:buSzPct val="80000"/>
              <a:buFont typeface="Wingdings"/>
              <a:buChar char="n"/>
              <a:defRPr sz="2800" b="1" baseline="0">
                <a:latin typeface="Palatino Linotype"/>
                <a:ea typeface="Palatino Linotype"/>
                <a:cs typeface="Palatino Linotype"/>
              </a:defRPr>
            </a:lvl1pPr>
            <a:lvl2pPr marL="685800" indent="-288000">
              <a:lnSpc>
                <a:spcPct val="110000"/>
              </a:lnSpc>
              <a:buSzPct val="65000"/>
              <a:buFont typeface="Wingdings"/>
              <a:buChar char=""/>
              <a:defRPr sz="2600" b="1" baseline="0">
                <a:latin typeface="Palatino Linotype"/>
                <a:ea typeface="Palatino Linotype"/>
                <a:cs typeface="Palatino Linotype"/>
              </a:defRPr>
            </a:lvl2pPr>
            <a:lvl3pPr marL="1143000" indent="-228600">
              <a:lnSpc>
                <a:spcPct val="110000"/>
              </a:lnSpc>
              <a:buSzPct val="60000"/>
              <a:buFont typeface="Wingdings"/>
              <a:buChar char="p"/>
              <a:defRPr sz="2200" baseline="0">
                <a:latin typeface="Palatino Linotype"/>
                <a:ea typeface="Palatino Linotype"/>
                <a:cs typeface="Palatino Linotype"/>
              </a:defRPr>
            </a:lvl3pPr>
            <a:lvl4pPr>
              <a:lnSpc>
                <a:spcPct val="110000"/>
              </a:lnSpc>
              <a:buNone/>
              <a:defRPr baseline="0">
                <a:latin typeface="Palatino Linotype"/>
                <a:ea typeface="Palatino Linotype"/>
                <a:cs typeface="Palatino Linotype"/>
              </a:defRPr>
            </a:lvl4pPr>
            <a:lvl5pPr>
              <a:lnSpc>
                <a:spcPct val="110000"/>
              </a:lnSpc>
              <a:buNone/>
              <a:defRPr baseline="0">
                <a:latin typeface="Palatino Linotype"/>
                <a:ea typeface="Palatino Linotype"/>
                <a:cs typeface="Palatino Linotype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3AB15-96E0-4C05-B6C7-0E257ACCC4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9A4C-B2F4-4932-8C30-73FF0F5A73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B40CB2-E7AC-7ABB-9AC7-DE2DB14F87FD}"/>
              </a:ext>
            </a:extLst>
          </p:cNvPr>
          <p:cNvSpPr>
            <a:spLocks noGrp="1"/>
          </p:cNvSpPr>
          <p:nvPr/>
        </p:nvSpPr>
        <p:spPr>
          <a:xfrm>
            <a:off x="601032" y="5604669"/>
            <a:ext cx="4114800" cy="419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E91C7B-5216-8162-97BD-ADEFB0F1354D}"/>
              </a:ext>
            </a:extLst>
          </p:cNvPr>
          <p:cNvSpPr>
            <a:spLocks noGrp="1"/>
          </p:cNvSpPr>
          <p:nvPr/>
        </p:nvSpPr>
        <p:spPr>
          <a:xfrm>
            <a:off x="0" y="6654942"/>
            <a:ext cx="12192000" cy="20306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8EC07E-406D-2A82-4389-AE65DC2FB8B1}"/>
              </a:ext>
            </a:extLst>
          </p:cNvPr>
          <p:cNvSpPr>
            <a:spLocks noGrp="1"/>
          </p:cNvSpPr>
          <p:nvPr/>
        </p:nvSpPr>
        <p:spPr>
          <a:xfrm>
            <a:off x="90361" y="6604024"/>
            <a:ext cx="42351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i="1">
                <a:solidFill>
                  <a:schemeClr val="bg1"/>
                </a:solidFill>
                <a:latin typeface="Palatino Linotype"/>
                <a:ea typeface="Palatino Linotype"/>
                <a:cs typeface="Palatino Linotype"/>
              </a:rPr>
              <a:t>State Key Laboratory of AI Safety, ICT, CAS</a:t>
            </a:r>
          </a:p>
        </p:txBody>
      </p:sp>
      <p:sp>
        <p:nvSpPr>
          <p:cNvPr id="14" name="Holder 6">
            <a:extLst>
              <a:ext uri="{FF2B5EF4-FFF2-40B4-BE49-F238E27FC236}">
                <a16:creationId xmlns:a16="http://schemas.microsoft.com/office/drawing/2014/main" id="{08B6B919-0624-ADF5-0E27-3CD9C6162282}"/>
              </a:ext>
            </a:extLst>
          </p:cNvPr>
          <p:cNvSpPr>
            <a:spLocks noGrp="1"/>
          </p:cNvSpPr>
          <p:nvPr/>
        </p:nvSpPr>
        <p:spPr>
          <a:xfrm>
            <a:off x="11763594" y="6611006"/>
            <a:ext cx="329565" cy="239937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ctr" defTabSz="457200">
              <a:buNone/>
              <a:defRPr sz="1300" b="0" i="0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38100">
              <a:lnSpc>
                <a:spcPts val="2090"/>
              </a:lnSpc>
              <a:buNone/>
            </a:pPr>
            <a:fld id="{8531AE72-546D-4AB4-BB5B-3F1148DF49BD}" type="slidenum">
              <a:rPr spc="-5"/>
              <a:t>‹#›</a:t>
            </a:fld>
            <a:endParaRPr spc="-5"/>
          </a:p>
        </p:txBody>
      </p:sp>
      <p:sp>
        <p:nvSpPr>
          <p:cNvPr id="19" name="bg object 17">
            <a:extLst>
              <a:ext uri="{FF2B5EF4-FFF2-40B4-BE49-F238E27FC236}">
                <a16:creationId xmlns:a16="http://schemas.microsoft.com/office/drawing/2014/main" id="{3D1895D4-5D7B-1BFC-46CF-C3AF1550F073}"/>
              </a:ext>
            </a:extLst>
          </p:cNvPr>
          <p:cNvSpPr>
            <a:spLocks noGrp="1"/>
          </p:cNvSpPr>
          <p:nvPr/>
        </p:nvSpPr>
        <p:spPr>
          <a:xfrm>
            <a:off x="108206" y="304492"/>
            <a:ext cx="215265" cy="288290"/>
          </a:xfrm>
          <a:custGeom>
            <a:avLst/>
            <a:gdLst/>
            <a:ahLst/>
            <a:cxnLst/>
            <a:rect l="l" t="t" r="r" b="b"/>
            <a:pathLst>
              <a:path w="215265" h="288290">
                <a:moveTo>
                  <a:pt x="107442" y="0"/>
                </a:moveTo>
                <a:lnTo>
                  <a:pt x="0" y="0"/>
                </a:lnTo>
                <a:lnTo>
                  <a:pt x="107442" y="144017"/>
                </a:lnTo>
                <a:lnTo>
                  <a:pt x="0" y="288036"/>
                </a:lnTo>
                <a:lnTo>
                  <a:pt x="107442" y="288036"/>
                </a:lnTo>
                <a:lnTo>
                  <a:pt x="214884" y="144017"/>
                </a:lnTo>
                <a:lnTo>
                  <a:pt x="10744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/>
          <a:lstStyle/>
          <a:p>
            <a:endParaRPr sz="1800"/>
          </a:p>
        </p:txBody>
      </p:sp>
      <p:sp>
        <p:nvSpPr>
          <p:cNvPr id="20" name="bg object 18">
            <a:extLst>
              <a:ext uri="{FF2B5EF4-FFF2-40B4-BE49-F238E27FC236}">
                <a16:creationId xmlns:a16="http://schemas.microsoft.com/office/drawing/2014/main" id="{CE0EA085-FD24-0A07-8F92-0DF84ABA9548}"/>
              </a:ext>
            </a:extLst>
          </p:cNvPr>
          <p:cNvSpPr>
            <a:spLocks noGrp="1"/>
          </p:cNvSpPr>
          <p:nvPr/>
        </p:nvSpPr>
        <p:spPr>
          <a:xfrm>
            <a:off x="263654" y="299921"/>
            <a:ext cx="216535" cy="297180"/>
          </a:xfrm>
          <a:custGeom>
            <a:avLst/>
            <a:gdLst/>
            <a:ahLst/>
            <a:cxnLst/>
            <a:rect l="l" t="t" r="r" b="b"/>
            <a:pathLst>
              <a:path w="216534" h="297180">
                <a:moveTo>
                  <a:pt x="108204" y="0"/>
                </a:moveTo>
                <a:lnTo>
                  <a:pt x="0" y="0"/>
                </a:lnTo>
                <a:lnTo>
                  <a:pt x="108204" y="148589"/>
                </a:lnTo>
                <a:lnTo>
                  <a:pt x="0" y="297179"/>
                </a:lnTo>
                <a:lnTo>
                  <a:pt x="108204" y="297179"/>
                </a:lnTo>
                <a:lnTo>
                  <a:pt x="216407" y="148589"/>
                </a:lnTo>
                <a:lnTo>
                  <a:pt x="108204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0" tIns="0" rIns="0" bIns="0"/>
          <a:lstStyle/>
          <a:p>
            <a:endParaRPr sz="18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EFDCC-60EF-4545-9F8B-4914BB1D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19" y="99953"/>
            <a:ext cx="6945029" cy="734201"/>
          </a:xfrm>
        </p:spPr>
        <p:txBody>
          <a:bodyPr>
            <a:normAutofit/>
          </a:bodyPr>
          <a:lstStyle>
            <a:lvl1pPr>
              <a:buNone/>
              <a:defRPr sz="36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32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568" y="67832"/>
            <a:ext cx="1036571" cy="766322"/>
          </a:xfrm>
          <a:prstGeom prst="rect">
            <a:avLst/>
          </a:prstGeom>
        </p:spPr>
      </p:pic>
      <p:sp>
        <p:nvSpPr>
          <p:cNvPr id="8" name="直接连接符 7">
            <a:extLst>
              <a:ext uri="{FF2B5EF4-FFF2-40B4-BE49-F238E27FC236}">
                <a16:creationId xmlns:a16="http://schemas.microsoft.com/office/drawing/2014/main" id="{C24C2525-629B-4538-9531-BF9FAFC591E5}"/>
              </a:ext>
            </a:extLst>
          </p:cNvPr>
          <p:cNvSpPr>
            <a:spLocks noGrp="1"/>
          </p:cNvSpPr>
          <p:nvPr/>
        </p:nvSpPr>
        <p:spPr>
          <a:xfrm>
            <a:off x="-9520" y="834154"/>
            <a:ext cx="7555581" cy="0"/>
          </a:xfrm>
          <a:prstGeom prst="line">
            <a:avLst/>
          </a:prstGeom>
          <a:ln w="57150">
            <a:gradFill rotWithShape="1">
              <a:gsLst>
                <a:gs pos="55000">
                  <a:srgbClr val="D1DCF0">
                    <a:alpha val="90000"/>
                  </a:srgbClr>
                </a:gs>
                <a:gs pos="0">
                  <a:schemeClr val="bg1"/>
                </a:gs>
                <a:gs pos="80000">
                  <a:schemeClr val="accent1">
                    <a:lumMod val="45000"/>
                    <a:lumOff val="5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6035-E37D-4870-B59F-6FD68218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801D3-D96C-4C34-86F1-558E1B347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F068D-29F2-404A-AF1F-33002D659E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03AB8-8668-4025-A2E0-FB0DCE012C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284EB-72E6-4A05-A577-D13E783073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44AE-8C98-4287-ABC1-B80996CE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AFAB-38C8-48B3-AB42-160D57EB6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CE47B-94C9-449E-9982-07A457A57CE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E3FD6-542C-40F0-ACA5-03B6DDBE18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28659-0A16-4F47-83D1-4A7FE41CD9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73CA9-366A-4736-AF97-DCE74498ED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6322-B1C5-4706-962D-D12B32244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D3A02-3D86-438F-880E-198222D4D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C44E6-056F-46F8-B007-F32FDB27B88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2E128-554E-4A0D-9A76-593CFEEC0D4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CB5DBA-B687-4DBE-BE54-1B1C50528D6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7308E-DC2D-4BED-8676-4B134133EF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AA3F97-D862-4E8F-A714-B58CA7E08B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938B24-C3C5-47EC-A7FC-5AC1F872D0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F147-DFEF-427E-B689-23CB776F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E3827-BE51-476B-98FB-AB455A2EA3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00BBF-12B6-49B4-97B6-86FDC49C91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B0413-3AF7-4DEC-8BC6-A42B35E81F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CC665-8263-454B-99B5-3534B0112C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6F341-6740-4887-9E09-8DDE3B325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2441-E759-4495-9DA0-257DCAE374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5AA8-AAE4-4FCF-99EA-805D8532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13527-267B-4DB4-94E5-3FD93ADAA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3869F-ED11-4A10-B754-F3BA66A35CC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ED613-374D-4DC7-BCF1-850E22092A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86355-236E-4484-845F-46A8F3123F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61E1A-B6F9-4B56-BE74-2925B0A632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EF17-551C-4FCA-A312-31659443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4F340-9A7A-43C3-AFC2-76B772388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7624F-8B24-4252-B40F-63B2DF0AA5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773A0-9959-4E95-8106-40C205652D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4100C-869C-4B53-9991-7978E83703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BC1F5-3809-4CBE-9DDC-E982362815E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5846-C4C4-410A-9516-50C70592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E4C7B-D2E5-40ED-8BF4-AE5B1A426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F28E1-D440-44B5-85B2-2CBBC9FE4D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C596D-854E-4EAC-8E22-BB80B282DA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F8A58-624A-4BE1-A24B-CD267D5BC0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C13F0-3775-46E9-98BD-4014096A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7B471-EEB1-4B5D-85FD-2BE82CB73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30461-E624-457F-B363-110EC795FB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DA38A-D506-43AF-9A82-E7FE0AF0D3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E08CB-2074-4FFF-9AD7-17EBDD95CE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2090"/>
              </a:lnSpc>
              <a:buNone/>
            </a:pPr>
            <a:fld id="{81D60167-4931-47E6-BA6A-407CBD079E47}" type="slidenum">
              <a:rPr spc="-5"/>
              <a:t>‹#›</a:t>
            </a:fld>
            <a:endParaRPr spc="-5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CC6AC-96D0-461A-8C41-4BCB02D8B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E0C13-6F63-47A6-90F5-62F495A9F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EF840-D035-4B37-8C9F-063EF3E25B2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31AE-1B4D-4643-BF46-AB04DBB0CAA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CB24B3EB-CA00-4328-BD61-C45314DE9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275" y="2505943"/>
            <a:ext cx="11119450" cy="625009"/>
          </a:xfrm>
        </p:spPr>
        <p:txBody>
          <a:bodyPr>
            <a:noAutofit/>
          </a:bodyPr>
          <a:lstStyle/>
          <a:p>
            <a:r>
              <a:rPr lang="en-US" altLang="zh-CN" sz="3400" spc="300" dirty="0">
                <a:latin typeface="Microsoft YaHei"/>
                <a:ea typeface="Microsoft YaHei"/>
                <a:cs typeface="Microsoft YaHei"/>
              </a:rPr>
              <a:t>Mandol</a:t>
            </a:r>
            <a:r>
              <a:rPr lang="zh-CN" altLang="en-US" sz="3400" spc="300" dirty="0">
                <a:latin typeface="Microsoft YaHei"/>
                <a:ea typeface="Microsoft YaHei"/>
                <a:cs typeface="Microsoft YaHei"/>
              </a:rPr>
              <a:t>融合索引增强</a:t>
            </a:r>
            <a:r>
              <a:rPr lang="en-US" altLang="zh-CN" sz="3400" spc="300" dirty="0">
                <a:latin typeface="Microsoft YaHei"/>
                <a:ea typeface="Microsoft YaHei"/>
                <a:cs typeface="Microsoft YaHei"/>
              </a:rPr>
              <a:t>:</a:t>
            </a:r>
            <a:r>
              <a:rPr lang="zh-CN" altLang="en-US" sz="3400" spc="300" dirty="0">
                <a:latin typeface="Microsoft YaHei"/>
                <a:ea typeface="Microsoft YaHei"/>
                <a:cs typeface="Microsoft YaHei"/>
              </a:rPr>
              <a:t>初步方案研讨</a:t>
            </a:r>
            <a:endParaRPr sz="3400" spc="300" dirty="0">
              <a:solidFill>
                <a:schemeClr val="tx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0E480B-353E-BEE2-AAB7-95484950E4EA}"/>
              </a:ext>
            </a:extLst>
          </p:cNvPr>
          <p:cNvSpPr>
            <a:spLocks noGrp="1"/>
          </p:cNvSpPr>
          <p:nvPr/>
        </p:nvSpPr>
        <p:spPr>
          <a:xfrm>
            <a:off x="3348516" y="3934448"/>
            <a:ext cx="5494968" cy="587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en-US" sz="2400" b="1" dirty="0">
                <a:latin typeface="+mn-ea"/>
                <a:cs typeface="Microsoft YaHei"/>
              </a:rPr>
              <a:t>唐菁</a:t>
            </a:r>
            <a:r>
              <a:rPr lang="en-US" altLang="zh-CN" sz="2400" b="1" dirty="0">
                <a:latin typeface="+mn-ea"/>
                <a:cs typeface="Microsoft YaHei"/>
              </a:rPr>
              <a:t> 2026</a:t>
            </a:r>
            <a:r>
              <a:rPr lang="zh-CN" altLang="en-US" sz="2400" b="1" dirty="0">
                <a:latin typeface="+mn-ea"/>
                <a:cs typeface="Microsoft YaHei"/>
              </a:rPr>
              <a:t>年</a:t>
            </a:r>
            <a:r>
              <a:rPr lang="en-US" altLang="zh-CN" sz="2400" b="1" dirty="0">
                <a:latin typeface="+mn-ea"/>
                <a:cs typeface="Microsoft YaHei"/>
              </a:rPr>
              <a:t>10</a:t>
            </a:r>
            <a:r>
              <a:rPr lang="zh-CN" altLang="en-US" sz="2400" b="1" dirty="0">
                <a:latin typeface="+mn-ea"/>
                <a:cs typeface="Microsoft YaHei"/>
              </a:rPr>
              <a:t>月</a:t>
            </a:r>
            <a:r>
              <a:rPr lang="en-US" altLang="zh-CN" sz="2400" b="1" dirty="0">
                <a:latin typeface="+mn-ea"/>
                <a:cs typeface="Microsoft YaHei"/>
              </a:rPr>
              <a:t>20</a:t>
            </a:r>
            <a:r>
              <a:rPr lang="zh-CN" altLang="en-US" sz="2400" b="1" dirty="0">
                <a:latin typeface="+mn-ea"/>
                <a:cs typeface="Microsoft YaHei"/>
              </a:rPr>
              <a:t>日</a:t>
            </a:r>
            <a:endParaRPr sz="2400" b="1" dirty="0">
              <a:latin typeface="+mn-ea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FAF558-0309-C5A1-902F-1590EC829D3B}"/>
              </a:ext>
            </a:extLst>
          </p:cNvPr>
          <p:cNvSpPr/>
          <p:nvPr/>
        </p:nvSpPr>
        <p:spPr>
          <a:xfrm>
            <a:off x="174171" y="223935"/>
            <a:ext cx="11781453" cy="1478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3950FA-5380-4E21-A8E7-D8BF895D5667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6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AE715C-2B9F-6576-9A3E-C27B1D76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51" y="216000"/>
            <a:ext cx="3815950" cy="520655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>
              <a:spcBef>
                <a:spcPts val="95"/>
              </a:spcBef>
              <a:buNone/>
            </a:pPr>
            <a:r>
              <a:rPr lang="zh-CN" altLang="en-US">
                <a:latin typeface="Palatino Linotype"/>
                <a:ea typeface="Palatino Linotype"/>
                <a:cs typeface="Palatino Linotype"/>
              </a:rPr>
              <a:t>目录</a:t>
            </a:r>
            <a:endParaRPr>
              <a:latin typeface="Palatino Linotype"/>
              <a:ea typeface="Palatino Linotype"/>
              <a:cs typeface="Palatino Linotype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732A82-96E2-1C7B-CC66-76B6F963293B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361949-242D-DA74-47EC-3DB72CE8AA45}"/>
              </a:ext>
            </a:extLst>
          </p:cNvPr>
          <p:cNvSpPr/>
          <p:nvPr/>
        </p:nvSpPr>
        <p:spPr>
          <a:xfrm>
            <a:off x="10593355" y="0"/>
            <a:ext cx="1524000" cy="1486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DEE5D2-4B53-9001-7129-75DAE501061E}"/>
              </a:ext>
            </a:extLst>
          </p:cNvPr>
          <p:cNvSpPr txBox="1"/>
          <p:nvPr/>
        </p:nvSpPr>
        <p:spPr>
          <a:xfrm>
            <a:off x="895739" y="1212980"/>
            <a:ext cx="514427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800" dirty="0"/>
              <a:t> </a:t>
            </a:r>
            <a:r>
              <a:rPr lang="zh-CN" altLang="en-US" sz="2800" dirty="0"/>
              <a:t>原有系统理解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800" dirty="0"/>
              <a:t> 需求理解和阐述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800" dirty="0"/>
              <a:t> </a:t>
            </a:r>
            <a:r>
              <a:rPr lang="zh-CN" altLang="en-US" sz="2800" dirty="0"/>
              <a:t>当前系统差距分析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800" dirty="0"/>
              <a:t> </a:t>
            </a:r>
            <a:r>
              <a:rPr lang="zh-CN" altLang="en-US" sz="2800" dirty="0"/>
              <a:t>扩展定位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800" dirty="0"/>
              <a:t> </a:t>
            </a:r>
            <a:r>
              <a:rPr lang="zh-CN" altLang="en-US" sz="2800" dirty="0"/>
              <a:t>新增对象建模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800" dirty="0"/>
              <a:t> </a:t>
            </a:r>
            <a:r>
              <a:rPr lang="zh-CN" altLang="en-US" sz="2800" dirty="0"/>
              <a:t>初步实现和评测方案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7601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0897-4F46-F02C-3B02-8F2C9FB4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ECB8F9-B79B-C491-F213-58FC75F3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原有系统理解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26BCA5B-4473-7C16-4BF1-722C360F561B}"/>
              </a:ext>
            </a:extLst>
          </p:cNvPr>
          <p:cNvSpPr txBox="1"/>
          <p:nvPr/>
        </p:nvSpPr>
        <p:spPr>
          <a:xfrm>
            <a:off x="67980" y="1295260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系统目标：让长期对话智能体能够有效地</a:t>
            </a:r>
            <a:r>
              <a:rPr lang="zh-CN" altLang="en-US" sz="1800" dirty="0">
                <a:solidFill>
                  <a:schemeClr val="tx1"/>
                </a:solidFill>
              </a:rPr>
              <a:t>提取、存储和检索</a:t>
            </a:r>
            <a:r>
              <a:rPr lang="zh-CN" altLang="en-US" sz="1800" b="0" dirty="0">
                <a:solidFill>
                  <a:schemeClr val="tx1"/>
                </a:solidFill>
              </a:rPr>
              <a:t>历史信息，从而在用户后续提问时，找到真正相关的记忆，并将其提供给上层大模型。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基础设计阐释：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1828800" lvl="4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    </a:t>
            </a: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6E745D-AE18-64C3-A066-784BCFCADECC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5B9641-A870-6755-BB63-50CA3F101077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586491-04EE-8C25-96CE-862514B07A8D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5BA024-5F67-D851-E68F-AED42F282FFE}"/>
              </a:ext>
            </a:extLst>
          </p:cNvPr>
          <p:cNvSpPr txBox="1"/>
          <p:nvPr/>
        </p:nvSpPr>
        <p:spPr>
          <a:xfrm>
            <a:off x="3311122" y="2814945"/>
            <a:ext cx="5047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记忆的存储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记忆的三塔结构和分层设计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B6E1E7-3F37-1BF5-6684-507139E5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520" y="3226681"/>
            <a:ext cx="5246823" cy="295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7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DE6CD3-EFE5-798D-3679-E2A2539D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原有系统理解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F8054C97-ABF6-B9A0-C03B-64F11BC13790}"/>
              </a:ext>
            </a:extLst>
          </p:cNvPr>
          <p:cNvSpPr txBox="1"/>
          <p:nvPr/>
        </p:nvSpPr>
        <p:spPr>
          <a:xfrm>
            <a:off x="67980" y="1295260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系统目标：让长期对话智能体能够有效地</a:t>
            </a:r>
            <a:r>
              <a:rPr lang="zh-CN" altLang="en-US" sz="1800" dirty="0">
                <a:solidFill>
                  <a:schemeClr val="tx1"/>
                </a:solidFill>
              </a:rPr>
              <a:t>提取、存储和检索</a:t>
            </a:r>
            <a:r>
              <a:rPr lang="zh-CN" altLang="en-US" sz="1800" b="0" dirty="0">
                <a:solidFill>
                  <a:schemeClr val="tx1"/>
                </a:solidFill>
              </a:rPr>
              <a:t>历史信息，从而在用户后续提问时，找到真正相关的记忆，并将其提供给上层大模型。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基础设计阐释：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1828800" lvl="4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    </a:t>
            </a: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1971AC-D758-A1AE-F879-76E14E8369F9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F3E18E-277E-869A-B8C5-C51E4E995C2B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C81A3A-D22E-2D79-649D-E4B01BECDE77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FDFDD8-458B-7ABD-7F3B-86977ED16E7E}"/>
              </a:ext>
            </a:extLst>
          </p:cNvPr>
          <p:cNvSpPr txBox="1"/>
          <p:nvPr/>
        </p:nvSpPr>
        <p:spPr>
          <a:xfrm>
            <a:off x="340024" y="2658061"/>
            <a:ext cx="504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记忆的检索设计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6071E24-3915-AB38-DEA4-18EF8940F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1" y="2289752"/>
            <a:ext cx="7211048" cy="436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9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9ED5-2881-4323-0757-E07C9D86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9A3EB7-65AC-5D0E-97E2-461F8397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原有系统理解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6A7B21E-B470-C0A3-8F1A-599B271112E3}"/>
              </a:ext>
            </a:extLst>
          </p:cNvPr>
          <p:cNvSpPr txBox="1"/>
          <p:nvPr/>
        </p:nvSpPr>
        <p:spPr>
          <a:xfrm>
            <a:off x="67980" y="1295260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系统原有对象建模：记忆的存储对象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1828800" lvl="4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    </a:t>
            </a: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0D0E51-E0C6-E2F4-10B1-E1EFA3A36479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A4B8E5-BAB0-D8D5-7334-33782D52846A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A3F808-4A45-AAFF-488F-4B8A840C4548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AC1CA8-5B88-9372-B90C-DE81166B5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16" y="2076395"/>
            <a:ext cx="7418808" cy="415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9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43FE-68E7-91C5-E1D8-B0BEFABA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6BC80D-F1CC-9ECE-687B-5AB73369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原有系统理解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7F3ABCD-7FEA-6C9E-1992-A723547574FF}"/>
              </a:ext>
            </a:extLst>
          </p:cNvPr>
          <p:cNvSpPr txBox="1"/>
          <p:nvPr/>
        </p:nvSpPr>
        <p:spPr>
          <a:xfrm>
            <a:off x="90840" y="897865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系统原有对象建模：记忆的检索的相关对象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1828800" lvl="4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    </a:t>
            </a: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D0AD12-7F41-CDDE-2678-3E4E388F6E02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3C98F1-413F-B473-2B97-3BFBD3C14447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51AECA-1DCF-1E96-04C1-694D57902597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1FA738-C32E-4895-6294-AE2D5A0B1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247" y="1355004"/>
            <a:ext cx="7128120" cy="516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7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F1F0-B664-707D-52B5-AE6C4A8C5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38AE98-0661-7B84-B461-B6B86BF40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原有系统理解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5C1DBC3-F0DA-F5D1-8C28-9BDA3285238A}"/>
              </a:ext>
            </a:extLst>
          </p:cNvPr>
          <p:cNvSpPr txBox="1"/>
          <p:nvPr/>
        </p:nvSpPr>
        <p:spPr>
          <a:xfrm>
            <a:off x="90840" y="897865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系统原有对象建模：记忆的提取的相关对象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1828800" lvl="4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    </a:t>
            </a: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A79597-A79E-372E-34E1-E37852A71545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483B71-5B78-6BF5-0E18-E9A61C94E034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81C9D5-1429-265C-986C-7A43B100BFE6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20639-0394-C05F-3170-F4373E7B2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25" y="1337778"/>
            <a:ext cx="9458130" cy="531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4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834B7-CB6F-A799-6CBE-D2334D733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6CA5AF-8E81-0FFF-E92E-6551DA90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原有系统理解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17521FD-AA17-0FC7-BC09-6F31654C546D}"/>
              </a:ext>
            </a:extLst>
          </p:cNvPr>
          <p:cNvSpPr txBox="1"/>
          <p:nvPr/>
        </p:nvSpPr>
        <p:spPr>
          <a:xfrm>
            <a:off x="90840" y="897865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系统的模块及相互关系：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系统实现的结果：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 err="1">
                <a:solidFill>
                  <a:schemeClr val="tx1"/>
                </a:solidFill>
              </a:rPr>
              <a:t>LoCoMo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长对话基准上的准确率高达</a:t>
            </a:r>
            <a:r>
              <a:rPr lang="en-US" altLang="zh-CN" sz="1800" b="0" dirty="0">
                <a:solidFill>
                  <a:schemeClr val="tx1"/>
                </a:solidFill>
              </a:rPr>
              <a:t>92.21%</a:t>
            </a:r>
            <a:r>
              <a:rPr lang="zh-CN" altLang="en-US" sz="1800" b="0" dirty="0">
                <a:solidFill>
                  <a:schemeClr val="tx1"/>
                </a:solidFill>
              </a:rPr>
              <a:t>，</a:t>
            </a:r>
            <a:r>
              <a:rPr lang="en-US" altLang="zh-CN" sz="1800" b="0" dirty="0" err="1">
                <a:solidFill>
                  <a:schemeClr val="tx1"/>
                </a:solidFill>
              </a:rPr>
              <a:t>LongMemEval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准确率高达</a:t>
            </a:r>
            <a:r>
              <a:rPr lang="en-US" altLang="zh-CN" sz="1800" b="0" dirty="0">
                <a:solidFill>
                  <a:schemeClr val="tx1"/>
                </a:solidFill>
              </a:rPr>
              <a:t>88.40%,LongMemEval Token </a:t>
            </a:r>
            <a:r>
              <a:rPr lang="zh-CN" altLang="en-US" sz="1800" b="0" dirty="0">
                <a:solidFill>
                  <a:schemeClr val="tx1"/>
                </a:solidFill>
              </a:rPr>
              <a:t>比 </a:t>
            </a:r>
            <a:r>
              <a:rPr lang="en-US" altLang="zh-CN" sz="1800" b="0" dirty="0" err="1">
                <a:solidFill>
                  <a:schemeClr val="tx1"/>
                </a:solidFill>
              </a:rPr>
              <a:t>EverMemOS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少 </a:t>
            </a:r>
            <a:r>
              <a:rPr lang="en-US" altLang="zh-CN" sz="1800" b="0" dirty="0">
                <a:solidFill>
                  <a:schemeClr val="tx1"/>
                </a:solidFill>
              </a:rPr>
              <a:t>17.4%–20.0%	</a:t>
            </a:r>
            <a:r>
              <a:rPr lang="zh-CN" altLang="en-US" sz="1800" b="0" dirty="0">
                <a:solidFill>
                  <a:schemeClr val="tx1"/>
                </a:solidFill>
              </a:rPr>
              <a:t>，且检索平均延迟</a:t>
            </a:r>
            <a:r>
              <a:rPr lang="en-US" altLang="zh-CN" sz="1800" b="0" dirty="0">
                <a:solidFill>
                  <a:schemeClr val="tx1"/>
                </a:solidFill>
              </a:rPr>
              <a:t>Mandol</a:t>
            </a:r>
            <a:r>
              <a:rPr lang="zh-CN" altLang="en-US" sz="1800" b="0" dirty="0">
                <a:solidFill>
                  <a:schemeClr val="tx1"/>
                </a:solidFill>
              </a:rPr>
              <a:t>是</a:t>
            </a:r>
            <a:r>
              <a:rPr lang="en-US" altLang="zh-CN" sz="1800" b="0" dirty="0">
                <a:solidFill>
                  <a:schemeClr val="tx1"/>
                </a:solidFill>
              </a:rPr>
              <a:t>82.2 </a:t>
            </a:r>
            <a:r>
              <a:rPr lang="en-US" altLang="zh-CN" sz="1800" b="0" dirty="0" err="1">
                <a:solidFill>
                  <a:schemeClr val="tx1"/>
                </a:solidFill>
              </a:rPr>
              <a:t>ms</a:t>
            </a:r>
            <a:r>
              <a:rPr lang="zh-CN" altLang="en-US" sz="1800" b="0" dirty="0">
                <a:solidFill>
                  <a:schemeClr val="tx1"/>
                </a:solidFill>
              </a:rPr>
              <a:t>，对比最快非 </a:t>
            </a:r>
            <a:r>
              <a:rPr lang="en-US" altLang="zh-CN" sz="1800" b="0" dirty="0">
                <a:solidFill>
                  <a:schemeClr val="tx1"/>
                </a:solidFill>
              </a:rPr>
              <a:t>Mandol </a:t>
            </a:r>
            <a:r>
              <a:rPr lang="zh-CN" altLang="en-US" sz="1800" b="0" dirty="0">
                <a:solidFill>
                  <a:schemeClr val="tx1"/>
                </a:solidFill>
              </a:rPr>
              <a:t>基线 </a:t>
            </a:r>
            <a:r>
              <a:rPr lang="en-US" altLang="zh-CN" sz="1800" b="0" dirty="0" err="1">
                <a:solidFill>
                  <a:schemeClr val="tx1"/>
                </a:solidFill>
              </a:rPr>
              <a:t>MemOS</a:t>
            </a:r>
            <a:r>
              <a:rPr lang="zh-CN" altLang="en-US" sz="1800" b="0" dirty="0">
                <a:solidFill>
                  <a:schemeClr val="tx1"/>
                </a:solidFill>
              </a:rPr>
              <a:t>是</a:t>
            </a:r>
            <a:r>
              <a:rPr lang="en-US" altLang="zh-CN" sz="1800" b="0" dirty="0">
                <a:solidFill>
                  <a:schemeClr val="tx1"/>
                </a:solidFill>
              </a:rPr>
              <a:t>440.5 </a:t>
            </a:r>
            <a:r>
              <a:rPr lang="en-US" altLang="zh-CN" sz="1800" b="0" dirty="0" err="1">
                <a:solidFill>
                  <a:schemeClr val="tx1"/>
                </a:solidFill>
              </a:rPr>
              <a:t>ms</a:t>
            </a:r>
            <a:r>
              <a:rPr lang="zh-CN" altLang="en-US" sz="1800" b="0" dirty="0">
                <a:solidFill>
                  <a:schemeClr val="tx1"/>
                </a:solidFill>
              </a:rPr>
              <a:t>，加速约</a:t>
            </a:r>
            <a:r>
              <a:rPr lang="en-US" altLang="zh-CN" sz="1800" b="0" dirty="0">
                <a:solidFill>
                  <a:schemeClr val="tx1"/>
                </a:solidFill>
              </a:rPr>
              <a:t>5.4 </a:t>
            </a:r>
            <a:r>
              <a:rPr lang="zh-CN" altLang="en-US" sz="1800" b="0" dirty="0">
                <a:solidFill>
                  <a:schemeClr val="tx1"/>
                </a:solidFill>
              </a:rPr>
              <a:t>倍；写入平均延迟，</a:t>
            </a:r>
            <a:r>
              <a:rPr lang="en-US" altLang="zh-CN" sz="1800" b="0" dirty="0">
                <a:solidFill>
                  <a:schemeClr val="tx1"/>
                </a:solidFill>
              </a:rPr>
              <a:t>Mandol</a:t>
            </a:r>
            <a:r>
              <a:rPr lang="zh-CN" altLang="en-US" sz="1800" b="0" dirty="0">
                <a:solidFill>
                  <a:schemeClr val="tx1"/>
                </a:solidFill>
              </a:rPr>
              <a:t>是</a:t>
            </a:r>
            <a:r>
              <a:rPr lang="en-US" altLang="zh-CN" sz="1800" b="0" dirty="0">
                <a:solidFill>
                  <a:schemeClr val="tx1"/>
                </a:solidFill>
              </a:rPr>
              <a:t>39.7 </a:t>
            </a:r>
            <a:r>
              <a:rPr lang="en-US" altLang="zh-CN" sz="1800" b="0" dirty="0" err="1">
                <a:solidFill>
                  <a:schemeClr val="tx1"/>
                </a:solidFill>
              </a:rPr>
              <a:t>ms</a:t>
            </a:r>
            <a:r>
              <a:rPr lang="zh-CN" altLang="en-US" sz="1800" b="0" dirty="0">
                <a:solidFill>
                  <a:schemeClr val="tx1"/>
                </a:solidFill>
              </a:rPr>
              <a:t>，而</a:t>
            </a:r>
            <a:r>
              <a:rPr lang="en-US" altLang="zh-CN" sz="1800" b="0" dirty="0" err="1">
                <a:solidFill>
                  <a:schemeClr val="tx1"/>
                </a:solidFill>
              </a:rPr>
              <a:t>MemOS</a:t>
            </a:r>
            <a:r>
              <a:rPr lang="en-US" altLang="zh-CN" sz="1800" b="0" dirty="0">
                <a:solidFill>
                  <a:schemeClr val="tx1"/>
                </a:solidFill>
              </a:rPr>
              <a:t> 191.9 </a:t>
            </a:r>
            <a:r>
              <a:rPr lang="en-US" altLang="zh-CN" sz="1800" b="0" dirty="0" err="1">
                <a:solidFill>
                  <a:schemeClr val="tx1"/>
                </a:solidFill>
              </a:rPr>
              <a:t>ms</a:t>
            </a:r>
            <a:r>
              <a:rPr lang="zh-CN" altLang="en-US" sz="1800" b="0" dirty="0">
                <a:solidFill>
                  <a:schemeClr val="tx1"/>
                </a:solidFill>
              </a:rPr>
              <a:t>，加速约 </a:t>
            </a:r>
            <a:r>
              <a:rPr lang="en-US" altLang="zh-CN" sz="1800" b="0" dirty="0">
                <a:solidFill>
                  <a:schemeClr val="tx1"/>
                </a:solidFill>
              </a:rPr>
              <a:t>4.8 </a:t>
            </a:r>
            <a:r>
              <a:rPr lang="zh-CN" altLang="en-US" sz="1800" b="0" dirty="0">
                <a:solidFill>
                  <a:schemeClr val="tx1"/>
                </a:solidFill>
              </a:rPr>
              <a:t>倍。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可见，</a:t>
            </a:r>
            <a:r>
              <a:rPr lang="en-US" altLang="zh-CN" sz="1800" b="0" dirty="0">
                <a:solidFill>
                  <a:schemeClr val="tx1"/>
                </a:solidFill>
              </a:rPr>
              <a:t>Mandol</a:t>
            </a:r>
            <a:r>
              <a:rPr lang="zh-CN" altLang="en-US" sz="1800" b="0" dirty="0">
                <a:solidFill>
                  <a:schemeClr val="tx1"/>
                </a:solidFill>
              </a:rPr>
              <a:t>实现了高效率、低成本的记忆提取、存储、检索系统，长对话记忆提取精准、有效。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1828800" lvl="4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6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    </a:t>
            </a: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algn="l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80D3D2-966B-2CD7-8023-087B2A22BDD8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A8BE82-2FF9-32BE-7910-BDE07CB9BBC7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5931FA-34C5-93AB-ADF3-20FAF975BAF2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53C213-A5B7-D634-1234-DA480187D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717" y="747657"/>
            <a:ext cx="6439423" cy="345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3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6D66-2E0F-31D7-BFC2-DCA89058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B96D4C-3BEE-E97C-6C34-A4F0D146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需求陈述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2DB8D00-F13E-C73F-1E39-FBA842ADEB64}"/>
              </a:ext>
            </a:extLst>
          </p:cNvPr>
          <p:cNvSpPr txBox="1"/>
          <p:nvPr/>
        </p:nvSpPr>
        <p:spPr>
          <a:xfrm>
            <a:off x="49319" y="1182210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现有系统能实现：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如果想实现条件搜索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那么只能修改查询文本，以实现条件搜索。但是这是“软约束”，不是“硬约束”。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CA6C2B-7067-B135-1FAA-29FC9ABA78DB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A5160E-1FE2-C424-9ABC-0CA89B36A042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5CA4DD-2C0B-DB76-C707-9540E4834CE3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7BBBD2-42E2-A552-63F2-F5655912F0E6}"/>
              </a:ext>
            </a:extLst>
          </p:cNvPr>
          <p:cNvSpPr/>
          <p:nvPr/>
        </p:nvSpPr>
        <p:spPr>
          <a:xfrm>
            <a:off x="2021633" y="1797698"/>
            <a:ext cx="1399591" cy="497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查询文本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ABC1A5E-13C7-19A7-7617-C5F63EE1D0CA}"/>
              </a:ext>
            </a:extLst>
          </p:cNvPr>
          <p:cNvSpPr/>
          <p:nvPr/>
        </p:nvSpPr>
        <p:spPr>
          <a:xfrm>
            <a:off x="3912637" y="1928327"/>
            <a:ext cx="1629747" cy="3110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299029-A93F-A717-DB4A-24CC74EE36E0}"/>
              </a:ext>
            </a:extLst>
          </p:cNvPr>
          <p:cNvSpPr/>
          <p:nvPr/>
        </p:nvSpPr>
        <p:spPr>
          <a:xfrm>
            <a:off x="6145764" y="4369837"/>
            <a:ext cx="1399591" cy="497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相关记忆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EEE510A0-A913-1B5C-928D-C0A9C0111D09}"/>
              </a:ext>
            </a:extLst>
          </p:cNvPr>
          <p:cNvSpPr/>
          <p:nvPr/>
        </p:nvSpPr>
        <p:spPr>
          <a:xfrm>
            <a:off x="4419600" y="4463144"/>
            <a:ext cx="1629747" cy="3110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5AE13D-E9C1-E238-6301-2D7C7FABB5BD}"/>
              </a:ext>
            </a:extLst>
          </p:cNvPr>
          <p:cNvSpPr/>
          <p:nvPr/>
        </p:nvSpPr>
        <p:spPr>
          <a:xfrm>
            <a:off x="6096000" y="1761204"/>
            <a:ext cx="1399591" cy="497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相关记忆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FF4C65D-39AD-100B-419A-C2437630C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993" y="2820058"/>
            <a:ext cx="5635379" cy="302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4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501C-FF54-E429-653D-FDF4966E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AFF962-D143-8E60-B887-4C2080CD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需求陈述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9BA7256-3625-9C7B-206A-461209464C1C}"/>
              </a:ext>
            </a:extLst>
          </p:cNvPr>
          <p:cNvSpPr txBox="1"/>
          <p:nvPr/>
        </p:nvSpPr>
        <p:spPr>
          <a:xfrm>
            <a:off x="49319" y="1182210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硬约束的好处：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chemeClr val="tx1"/>
                </a:solidFill>
              </a:rPr>
              <a:t>确定需求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9CFC6C-48F3-8A33-A5CD-6C2E2B57A9AC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59BF6D-D7DF-4FB6-7BEE-2CBC1BE8BC9A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B5DB23-70EB-147B-C5F8-635C332AC09B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D25586-11F6-7216-A245-A30E3DDAD412}"/>
              </a:ext>
            </a:extLst>
          </p:cNvPr>
          <p:cNvSpPr txBox="1"/>
          <p:nvPr/>
        </p:nvSpPr>
        <p:spPr>
          <a:xfrm>
            <a:off x="1281403" y="1648408"/>
            <a:ext cx="88951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可以直接做时间上的数值比较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筛选出的是“硬性符合条件的”，而不是“语义上可能符合条件的”，结果更可靠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可以在召回之前缩窄候选集的范围，而不是召回后通过文本进行打分，降低成本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FE4AA5-43A5-490B-ED87-A559EFE498BA}"/>
              </a:ext>
            </a:extLst>
          </p:cNvPr>
          <p:cNvSpPr txBox="1"/>
          <p:nvPr/>
        </p:nvSpPr>
        <p:spPr>
          <a:xfrm>
            <a:off x="1349827" y="3657286"/>
            <a:ext cx="88951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将记忆检索从仅支持空间成员关系，扩展到可以根据记忆属性、图中关系、语义相似性、时间条件等条件来进行检索，其中时间条件可以是事件时间或记录时间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从仅有析取关系扩展到可以支持任意合取、析取关系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实现查询规划，即对给定的条件组合，系统需能选择候选集的生成方式与执行顺序而非固定单一路径。如当某个条件筛选后剩余候选较少时，先执行该条件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检索效果不低于原基线；维护成本上，尽量不破坏现有接口、召回后端等；并报告访问开销。</a:t>
            </a:r>
          </a:p>
        </p:txBody>
      </p:sp>
    </p:spTree>
    <p:extLst>
      <p:ext uri="{BB962C8B-B14F-4D97-AF65-F5344CB8AC3E}">
        <p14:creationId xmlns:p14="http://schemas.microsoft.com/office/powerpoint/2010/main" val="3016746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D4CF-0D58-BF62-2D25-4E4ADE70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9387F1-E67A-CEC3-2BD4-773CE0FA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差距分析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6E6A0EE-78A7-7B23-1ACE-1DBFEBF9F530}"/>
              </a:ext>
            </a:extLst>
          </p:cNvPr>
          <p:cNvSpPr txBox="1"/>
          <p:nvPr/>
        </p:nvSpPr>
        <p:spPr>
          <a:xfrm>
            <a:off x="49319" y="1182210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属性约束未完成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时间约束未完成</a:t>
            </a:r>
            <a:r>
              <a:rPr lang="en-US" altLang="zh-CN" sz="1800" b="0" dirty="0">
                <a:solidFill>
                  <a:schemeClr val="tx1"/>
                </a:solidFill>
              </a:rPr>
              <a:t>: </a:t>
            </a:r>
            <a:r>
              <a:rPr lang="zh-CN" altLang="en-US" sz="1800" b="0" dirty="0">
                <a:solidFill>
                  <a:schemeClr val="tx1"/>
                </a:solidFill>
              </a:rPr>
              <a:t>没有分清“对话时间”和“记忆入库时间”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图的关系约束未完成：基本组件，如判断</a:t>
            </a:r>
            <a:r>
              <a:rPr lang="en-US" altLang="zh-CN" sz="1800" b="0" dirty="0">
                <a:solidFill>
                  <a:schemeClr val="tx1"/>
                </a:solidFill>
              </a:rPr>
              <a:t>k </a:t>
            </a:r>
            <a:r>
              <a:rPr lang="zh-CN" altLang="en-US" sz="1800" b="0" dirty="0">
                <a:solidFill>
                  <a:schemeClr val="tx1"/>
                </a:solidFill>
              </a:rPr>
              <a:t>跳、关系类型等均有，但是发生在融合和重排之后，只能做召回后的知识扩展，不能做召回前的候选选择，不参与打分，也不参与条件判断。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chemeClr val="tx1"/>
                </a:solidFill>
              </a:rPr>
              <a:t>合取析取关系未完成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zh-CN" altLang="en-US" sz="1800" b="0" dirty="0">
                <a:solidFill>
                  <a:schemeClr val="tx1"/>
                </a:solidFill>
              </a:rPr>
              <a:t>查询对象 </a:t>
            </a:r>
            <a:r>
              <a:rPr lang="en-US" altLang="zh-CN" sz="1800" b="0" dirty="0" err="1">
                <a:solidFill>
                  <a:schemeClr val="tx1"/>
                </a:solidFill>
              </a:rPr>
              <a:t>QueryBundle</a:t>
            </a:r>
            <a:r>
              <a:rPr lang="zh-CN" altLang="en-US" sz="1800" b="0" dirty="0">
                <a:solidFill>
                  <a:schemeClr val="tx1"/>
                </a:solidFill>
              </a:rPr>
              <a:t>只有查询文本和三个特征向量，没有字段规定了条件。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查询规划未完成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C2DDD0-B1BA-316D-6E42-67B0C5032E09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3B4312-5277-13B6-A5D7-E6A741F38D6A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003B98-599E-122F-3A7A-E98E01FDED01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92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BEDB-416C-1FD6-783E-F91200EC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7BEFDB-3BC9-8E43-3D1E-D5DA439E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扩展定位：加在哪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270BF345-E55D-C258-6E78-1F972C38A071}"/>
              </a:ext>
            </a:extLst>
          </p:cNvPr>
          <p:cNvSpPr txBox="1"/>
          <p:nvPr/>
        </p:nvSpPr>
        <p:spPr>
          <a:xfrm>
            <a:off x="298135" y="1095124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时间字段的增加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zh-CN" altLang="en-US" sz="1800" b="0" dirty="0">
                <a:solidFill>
                  <a:schemeClr val="tx1"/>
                </a:solidFill>
              </a:rPr>
              <a:t>在最底层的记忆单元</a:t>
            </a:r>
            <a:r>
              <a:rPr lang="en-US" altLang="zh-CN" sz="1800" b="0" dirty="0" err="1">
                <a:solidFill>
                  <a:schemeClr val="tx1"/>
                </a:solidFill>
              </a:rPr>
              <a:t>MemoryUnit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加两个字段：</a:t>
            </a:r>
            <a:r>
              <a:rPr lang="en-US" altLang="zh-CN" sz="1800" b="0" dirty="0">
                <a:solidFill>
                  <a:schemeClr val="tx1"/>
                </a:solidFill>
              </a:rPr>
              <a:t>event time</a:t>
            </a:r>
            <a:r>
              <a:rPr lang="zh-CN" altLang="en-US" sz="1800" b="0" dirty="0">
                <a:solidFill>
                  <a:schemeClr val="tx1"/>
                </a:solidFill>
              </a:rPr>
              <a:t>：事情什么时候发生和</a:t>
            </a:r>
            <a:r>
              <a:rPr lang="en-US" altLang="zh-CN" sz="1800" b="0" dirty="0" err="1">
                <a:solidFill>
                  <a:schemeClr val="tx1"/>
                </a:solidFill>
              </a:rPr>
              <a:t>recordtime</a:t>
            </a:r>
            <a:r>
              <a:rPr lang="zh-CN" altLang="en-US" sz="1800" b="0" dirty="0">
                <a:solidFill>
                  <a:schemeClr val="tx1"/>
                </a:solidFill>
              </a:rPr>
              <a:t>：什么时候入库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  原因： 时间属性本身属于一条记忆，一条记忆的最小单元就是</a:t>
            </a:r>
            <a:r>
              <a:rPr lang="en-US" altLang="zh-CN" sz="1800" b="0" dirty="0" err="1">
                <a:solidFill>
                  <a:schemeClr val="tx1"/>
                </a:solidFill>
              </a:rPr>
              <a:t>MemoryUnit</a:t>
            </a:r>
            <a:r>
              <a:rPr lang="zh-CN" altLang="en-US" sz="1800" b="0" dirty="0">
                <a:solidFill>
                  <a:schemeClr val="tx1"/>
                </a:solidFill>
              </a:rPr>
              <a:t>，所以将时间放入其中合适	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chemeClr val="tx1"/>
                </a:solidFill>
              </a:rPr>
              <a:t>属性字典的增加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zh-CN" altLang="en-US" sz="1800" b="0" dirty="0">
                <a:solidFill>
                  <a:schemeClr val="tx1"/>
                </a:solidFill>
              </a:rPr>
              <a:t> 给一些属性键值 → </a:t>
            </a:r>
            <a:r>
              <a:rPr lang="en-US" altLang="zh-CN" sz="1800" b="0" dirty="0" err="1">
                <a:solidFill>
                  <a:schemeClr val="tx1"/>
                </a:solidFill>
              </a:rPr>
              <a:t>uid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集合的表格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  原因：一一读取效率较低；建立表格经计算只需要建立</a:t>
            </a:r>
            <a:r>
              <a:rPr lang="en-US" altLang="zh-CN" sz="1800" b="0" dirty="0">
                <a:solidFill>
                  <a:schemeClr val="tx1"/>
                </a:solidFill>
              </a:rPr>
              <a:t>30</a:t>
            </a:r>
            <a:r>
              <a:rPr lang="zh-CN" altLang="en-US" sz="1800" b="0" dirty="0">
                <a:solidFill>
                  <a:schemeClr val="tx1"/>
                </a:solidFill>
              </a:rPr>
              <a:t>个表格，工程量适度。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图中关系候选实现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zh-CN" altLang="en-US" sz="1800" b="0" dirty="0">
                <a:solidFill>
                  <a:schemeClr val="tx1"/>
                </a:solidFill>
              </a:rPr>
              <a:t> 复用现成的</a:t>
            </a:r>
            <a:r>
              <a:rPr lang="en-US" altLang="zh-CN" sz="1800" b="0" dirty="0" err="1">
                <a:solidFill>
                  <a:schemeClr val="tx1"/>
                </a:solidFill>
              </a:rPr>
              <a:t>GraphContextExpander.expand_context_by_hops</a:t>
            </a:r>
            <a:r>
              <a:rPr lang="zh-CN" altLang="en-US" sz="1800" b="0" dirty="0">
                <a:solidFill>
                  <a:schemeClr val="tx1"/>
                </a:solidFill>
              </a:rPr>
              <a:t>，输出符合相应关系的</a:t>
            </a:r>
            <a:r>
              <a:rPr lang="en-US" altLang="zh-CN" sz="1800" b="0" dirty="0" err="1">
                <a:solidFill>
                  <a:schemeClr val="tx1"/>
                </a:solidFill>
              </a:rPr>
              <a:t>uid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集合，作为候选集。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多种条件约束查询的核心：建立独立文件</a:t>
            </a:r>
            <a:r>
              <a:rPr lang="en-US" altLang="zh-CN" sz="1800" b="0" dirty="0">
                <a:solidFill>
                  <a:schemeClr val="tx1"/>
                </a:solidFill>
              </a:rPr>
              <a:t>query.py</a:t>
            </a:r>
            <a:r>
              <a:rPr lang="zh-CN" altLang="en-US" sz="1800" b="0" dirty="0">
                <a:solidFill>
                  <a:schemeClr val="tx1"/>
                </a:solidFill>
              </a:rPr>
              <a:t>，将查询对象和约束树的主体放进其中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  原因：单独成模块，可以更好地进行测试。如果放入 </a:t>
            </a:r>
            <a:r>
              <a:rPr lang="en-US" altLang="zh-CN" sz="1800" b="0" dirty="0" err="1">
                <a:solidFill>
                  <a:schemeClr val="tx1"/>
                </a:solidFill>
              </a:rPr>
              <a:t>smart_search</a:t>
            </a:r>
            <a:r>
              <a:rPr lang="zh-CN" altLang="en-US" sz="1800" b="0" dirty="0">
                <a:solidFill>
                  <a:schemeClr val="tx1"/>
                </a:solidFill>
              </a:rPr>
              <a:t>之中，即在这个公共搜索接口加上逻辑关系，一是单一函数难以表达，二是极大地破坏了公共搜索接口的结构。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49083B-0D78-27A5-022B-DDC158479709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78625A-A6D1-F3CD-3209-6B04619640E1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ABD72E-BBF9-A913-812C-4E437AF9D312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2787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F2E0-23AF-D14D-4986-A607606D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2C5853-EB43-5CAE-7DB1-3439C601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扩展定位：加在哪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F4AA643E-7DA8-ADD4-2006-CA9C69CAB767}"/>
              </a:ext>
            </a:extLst>
          </p:cNvPr>
          <p:cNvSpPr txBox="1"/>
          <p:nvPr/>
        </p:nvSpPr>
        <p:spPr>
          <a:xfrm>
            <a:off x="298135" y="1095124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在 </a:t>
            </a:r>
            <a:r>
              <a:rPr lang="en-US" altLang="zh-CN" sz="1800" b="0" dirty="0" err="1">
                <a:solidFill>
                  <a:schemeClr val="tx1"/>
                </a:solidFill>
              </a:rPr>
              <a:t>SemanticGraph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加 </a:t>
            </a:r>
            <a:r>
              <a:rPr lang="en-US" altLang="zh-CN" sz="1800" b="0" dirty="0">
                <a:solidFill>
                  <a:schemeClr val="tx1"/>
                </a:solidFill>
              </a:rPr>
              <a:t>query(</a:t>
            </a:r>
            <a:r>
              <a:rPr lang="en-US" altLang="zh-CN" sz="1800" b="0" dirty="0" err="1">
                <a:solidFill>
                  <a:schemeClr val="tx1"/>
                </a:solidFill>
              </a:rPr>
              <a:t>MemoryQuery</a:t>
            </a:r>
            <a:r>
              <a:rPr lang="en-US" altLang="zh-CN" sz="1800" b="0" dirty="0">
                <a:solidFill>
                  <a:schemeClr val="tx1"/>
                </a:solidFill>
              </a:rPr>
              <a:t>) </a:t>
            </a:r>
            <a:r>
              <a:rPr lang="zh-CN" altLang="en-US" sz="1800" b="0" dirty="0">
                <a:solidFill>
                  <a:schemeClr val="tx1"/>
                </a:solidFill>
              </a:rPr>
              <a:t>方法，实际搜索在 </a:t>
            </a:r>
            <a:r>
              <a:rPr lang="en-US" altLang="zh-CN" sz="1800" b="0" dirty="0">
                <a:solidFill>
                  <a:schemeClr val="tx1"/>
                </a:solidFill>
              </a:rPr>
              <a:t>query </a:t>
            </a:r>
            <a:r>
              <a:rPr lang="zh-CN" altLang="en-US" sz="1800" b="0" dirty="0">
                <a:solidFill>
                  <a:schemeClr val="tx1"/>
                </a:solidFill>
              </a:rPr>
              <a:t>模块之中。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   原因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zh-CN" altLang="en-US" sz="1800" b="0" dirty="0">
                <a:solidFill>
                  <a:schemeClr val="tx1"/>
                </a:solidFill>
              </a:rPr>
              <a:t>实现“方法转发”，从而不用知晓</a:t>
            </a:r>
            <a:r>
              <a:rPr lang="en-US" altLang="zh-CN" sz="1800" b="0" dirty="0">
                <a:solidFill>
                  <a:schemeClr val="tx1"/>
                </a:solidFill>
              </a:rPr>
              <a:t>query</a:t>
            </a:r>
            <a:r>
              <a:rPr lang="zh-CN" altLang="en-US" sz="1800" b="0" dirty="0">
                <a:solidFill>
                  <a:schemeClr val="tx1"/>
                </a:solidFill>
              </a:rPr>
              <a:t>的具体实现，亦可调用条件搜索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下层实现</a:t>
            </a:r>
            <a:r>
              <a:rPr lang="en-US" altLang="zh-CN" sz="1800" b="0" dirty="0" err="1">
                <a:solidFill>
                  <a:schemeClr val="tx1"/>
                </a:solidFill>
              </a:rPr>
              <a:t>smart_search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加一个可选的</a:t>
            </a:r>
            <a:r>
              <a:rPr lang="en-US" altLang="zh-CN" sz="1800" b="0" dirty="0" err="1">
                <a:solidFill>
                  <a:schemeClr val="tx1"/>
                </a:solidFill>
              </a:rPr>
              <a:t>candidate_uids</a:t>
            </a:r>
            <a:r>
              <a:rPr lang="zh-CN" altLang="en-US" sz="1800" b="0" dirty="0">
                <a:solidFill>
                  <a:schemeClr val="tx1"/>
                </a:solidFill>
              </a:rPr>
              <a:t>，即可直接在候选集之中进行搜索。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    原因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zh-CN" altLang="en-US" sz="1800" b="0" dirty="0">
                <a:solidFill>
                  <a:schemeClr val="tx1"/>
                </a:solidFill>
              </a:rPr>
              <a:t>条件筛选对于下层搜索的影响仅影响候选集，而不影响其逻辑，可维护性更强。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实现选择性，即这个条件能筛掉多少数据。条件越能筛，候选集越小，就越该先算。这必须同时看到全部约束和索引统计。这相对复杂，设计独立</a:t>
            </a:r>
            <a:r>
              <a:rPr lang="en-US" altLang="zh-CN" sz="1800" b="0" dirty="0">
                <a:solidFill>
                  <a:schemeClr val="tx1"/>
                </a:solidFill>
              </a:rPr>
              <a:t>Planner.py</a:t>
            </a:r>
            <a:r>
              <a:rPr lang="zh-CN" altLang="en-US" sz="1800" b="0" dirty="0">
                <a:solidFill>
                  <a:schemeClr val="tx1"/>
                </a:solidFill>
              </a:rPr>
              <a:t>层，不嵌在老组件里。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增加适配器：剪枝器需要的对象是</a:t>
            </a:r>
            <a:r>
              <a:rPr lang="en-US" altLang="zh-CN" sz="1800" b="0" dirty="0" err="1">
                <a:solidFill>
                  <a:schemeClr val="tx1"/>
                </a:solidFill>
              </a:rPr>
              <a:t>EnhancedCandidateChunk</a:t>
            </a:r>
            <a:r>
              <a:rPr lang="zh-CN" altLang="en-US" sz="1800" b="0" dirty="0">
                <a:solidFill>
                  <a:schemeClr val="tx1"/>
                </a:solidFill>
              </a:rPr>
              <a:t>，但是新的设计产生的不是这个格式，需要增加适配器。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   </a:t>
            </a:r>
            <a:r>
              <a:rPr lang="zh-CN" altLang="en-US" sz="1800" b="0" dirty="0">
                <a:solidFill>
                  <a:schemeClr val="tx1"/>
                </a:solidFill>
              </a:rPr>
              <a:t>原因：不修改已有剪枝器，尽可能减少对原来代码的影响，而是让新格式写适配器适应老格式。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	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85CEB1-4F22-B794-D992-145D4ECAF999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08F405-21FA-86A0-FB4D-5B73A21F4315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C9CD08-D335-8290-6BF6-683E02FAF1A6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687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A932-2664-029D-6D87-4883B501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73CE1F3-61F9-A45A-5C27-868B477D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新增对象建模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CBD21BE-AF8E-593A-B94C-18635F0B708C}"/>
              </a:ext>
            </a:extLst>
          </p:cNvPr>
          <p:cNvSpPr txBox="1"/>
          <p:nvPr/>
        </p:nvSpPr>
        <p:spPr>
          <a:xfrm>
            <a:off x="298135" y="1095124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“</a:t>
            </a:r>
            <a:r>
              <a:rPr lang="zh-CN" altLang="en-US" sz="1800" b="0" dirty="0">
                <a:solidFill>
                  <a:schemeClr val="tx1"/>
                </a:solidFill>
              </a:rPr>
              <a:t>门面”层：</a:t>
            </a:r>
            <a:r>
              <a:rPr lang="en-US" altLang="zh-CN" sz="1800" b="0" dirty="0" err="1">
                <a:solidFill>
                  <a:schemeClr val="tx1"/>
                </a:solidFill>
              </a:rPr>
              <a:t>SemanticGraph.query</a:t>
            </a:r>
            <a:r>
              <a:rPr lang="en-US" altLang="zh-CN" sz="1800" b="0" dirty="0">
                <a:solidFill>
                  <a:schemeClr val="tx1"/>
                </a:solidFill>
              </a:rPr>
              <a:t>()</a:t>
            </a:r>
            <a:r>
              <a:rPr lang="zh-CN" altLang="en-US" sz="1800" b="0" dirty="0">
                <a:solidFill>
                  <a:schemeClr val="tx1"/>
                </a:solidFill>
              </a:rPr>
              <a:t>作为入口，执行</a:t>
            </a:r>
            <a:r>
              <a:rPr lang="en-US" altLang="zh-CN" sz="1800" b="0" dirty="0" err="1">
                <a:solidFill>
                  <a:schemeClr val="tx1"/>
                </a:solidFill>
              </a:rPr>
              <a:t>QueryEngine</a:t>
            </a:r>
            <a:r>
              <a:rPr lang="zh-CN" altLang="en-US" sz="1800" b="0" dirty="0">
                <a:solidFill>
                  <a:schemeClr val="tx1"/>
                </a:solidFill>
              </a:rPr>
              <a:t>对象中的</a:t>
            </a:r>
            <a:r>
              <a:rPr lang="en-US" altLang="zh-CN" sz="1800" b="0" dirty="0">
                <a:solidFill>
                  <a:schemeClr val="tx1"/>
                </a:solidFill>
              </a:rPr>
              <a:t>execute</a:t>
            </a:r>
            <a:r>
              <a:rPr lang="zh-CN" altLang="en-US" sz="1800" b="0" dirty="0">
                <a:solidFill>
                  <a:schemeClr val="tx1"/>
                </a:solidFill>
              </a:rPr>
              <a:t>方法。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   核心层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en-US" altLang="zh-CN" sz="1800" b="0" dirty="0" err="1">
                <a:solidFill>
                  <a:schemeClr val="tx1"/>
                </a:solidFill>
              </a:rPr>
              <a:t>QueryEngine</a:t>
            </a:r>
            <a:r>
              <a:rPr lang="zh-CN" altLang="en-US" sz="1800" b="0" dirty="0">
                <a:solidFill>
                  <a:schemeClr val="tx1"/>
                </a:solidFill>
              </a:rPr>
              <a:t>：是整个任务的总调度，编排任务、给其他对象委派任务。编排的任务有：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	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en-US" altLang="zh-CN" sz="1800" b="0" dirty="0" err="1">
                <a:solidFill>
                  <a:schemeClr val="tx1"/>
                </a:solidFill>
              </a:rPr>
              <a:t>QueryContext</a:t>
            </a:r>
            <a:r>
              <a:rPr lang="zh-CN" altLang="en-US" sz="1800" b="0" dirty="0">
                <a:solidFill>
                  <a:schemeClr val="tx1"/>
                </a:solidFill>
              </a:rPr>
              <a:t>：持有两种对象，一个是</a:t>
            </a:r>
            <a:r>
              <a:rPr lang="en-US" altLang="zh-CN" sz="1800" b="0" dirty="0" err="1">
                <a:solidFill>
                  <a:schemeClr val="tx1"/>
                </a:solidFill>
              </a:rPr>
              <a:t>AttributeIndex</a:t>
            </a:r>
            <a:r>
              <a:rPr lang="zh-CN" altLang="en-US" sz="1800" b="0" dirty="0">
                <a:solidFill>
                  <a:schemeClr val="tx1"/>
                </a:solidFill>
              </a:rPr>
              <a:t>，另一个是</a:t>
            </a:r>
            <a:r>
              <a:rPr lang="en-US" altLang="zh-CN" sz="1800" b="0" dirty="0" err="1">
                <a:solidFill>
                  <a:schemeClr val="tx1"/>
                </a:solidFill>
              </a:rPr>
              <a:t>TimeIndex</a:t>
            </a:r>
            <a:r>
              <a:rPr lang="zh-CN" altLang="en-US" sz="1800" b="0" dirty="0">
                <a:solidFill>
                  <a:schemeClr val="tx1"/>
                </a:solidFill>
              </a:rPr>
              <a:t>。前者实现上文提到的属性值</a:t>
            </a:r>
            <a:r>
              <a:rPr lang="en-US" altLang="zh-CN" sz="1800" b="0" dirty="0">
                <a:solidFill>
                  <a:schemeClr val="tx1"/>
                </a:solidFill>
              </a:rPr>
              <a:t>-&gt;</a:t>
            </a:r>
            <a:r>
              <a:rPr lang="en-US" altLang="zh-CN" sz="1800" b="0" dirty="0" err="1">
                <a:solidFill>
                  <a:schemeClr val="tx1"/>
                </a:solidFill>
              </a:rPr>
              <a:t>int_id</a:t>
            </a:r>
            <a:r>
              <a:rPr lang="zh-CN" altLang="en-US" sz="1800" b="0" dirty="0">
                <a:solidFill>
                  <a:schemeClr val="tx1"/>
                </a:solidFill>
              </a:rPr>
              <a:t>集合以方便属性查找，后者实现</a:t>
            </a:r>
            <a:r>
              <a:rPr lang="en-US" altLang="zh-CN" sz="1800" b="0" dirty="0">
                <a:solidFill>
                  <a:schemeClr val="tx1"/>
                </a:solidFill>
              </a:rPr>
              <a:t>(timestamp, </a:t>
            </a:r>
            <a:r>
              <a:rPr lang="en-US" altLang="zh-CN" sz="1800" b="0" dirty="0" err="1">
                <a:solidFill>
                  <a:schemeClr val="tx1"/>
                </a:solidFill>
              </a:rPr>
              <a:t>int_id</a:t>
            </a:r>
            <a:r>
              <a:rPr lang="en-US" altLang="zh-CN" sz="1800" b="0" dirty="0">
                <a:solidFill>
                  <a:schemeClr val="tx1"/>
                </a:solidFill>
              </a:rPr>
              <a:t>) </a:t>
            </a:r>
            <a:r>
              <a:rPr lang="zh-CN" altLang="en-US" sz="1800" b="0" dirty="0">
                <a:solidFill>
                  <a:schemeClr val="tx1"/>
                </a:solidFill>
              </a:rPr>
              <a:t>有序数组，从而实现二分查找满足时间要求的记忆</a:t>
            </a:r>
            <a:r>
              <a:rPr lang="en-US" altLang="zh-CN" sz="1800" b="0" dirty="0">
                <a:solidFill>
                  <a:schemeClr val="tx1"/>
                </a:solidFill>
              </a:rPr>
              <a:t>,</a:t>
            </a:r>
            <a:r>
              <a:rPr lang="zh-CN" altLang="en-US" sz="1800" b="0" dirty="0">
                <a:solidFill>
                  <a:schemeClr val="tx1"/>
                </a:solidFill>
              </a:rPr>
              <a:t>提高效率。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	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	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F30F17-A3F2-4374-FECD-369202B8AAB6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82A956-A2C7-78F0-E372-C13724F8FDA3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A3C101-3AEA-CC35-B63F-BD9FCDAD372E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D99A15-EDE3-529C-9A99-DDB146B1E69B}"/>
              </a:ext>
            </a:extLst>
          </p:cNvPr>
          <p:cNvSpPr txBox="1"/>
          <p:nvPr/>
        </p:nvSpPr>
        <p:spPr>
          <a:xfrm>
            <a:off x="1534885" y="2279780"/>
            <a:ext cx="40930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建立上下文：委派给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QueryContext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做规划：委派给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QueryPlanner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执行计划：委派给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PlanExecutor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结果适配：委派给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PruneAdapter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建立上下文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QueryContext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2418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FB16-8A4A-7AA6-639E-71E155A4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081AF5-C9FB-722D-7322-5A9696C2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新增对象建模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84D265AF-F42B-AD2E-3663-A491BB1839FB}"/>
              </a:ext>
            </a:extLst>
          </p:cNvPr>
          <p:cNvSpPr txBox="1"/>
          <p:nvPr/>
        </p:nvSpPr>
        <p:spPr>
          <a:xfrm>
            <a:off x="298135" y="1095124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做规划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en-US" altLang="zh-CN" sz="1800" b="0" dirty="0" err="1">
                <a:solidFill>
                  <a:schemeClr val="tx1"/>
                </a:solidFill>
              </a:rPr>
              <a:t>QueryPlanner</a:t>
            </a:r>
            <a:r>
              <a:rPr lang="zh-CN" altLang="en-US" sz="1800" b="0" dirty="0">
                <a:solidFill>
                  <a:schemeClr val="tx1"/>
                </a:solidFill>
              </a:rPr>
              <a:t> 委派</a:t>
            </a:r>
            <a:r>
              <a:rPr lang="en-US" altLang="zh-CN" sz="1800" b="0" dirty="0" err="1">
                <a:solidFill>
                  <a:schemeClr val="tx1"/>
                </a:solidFill>
              </a:rPr>
              <a:t>SelectivityEstimator</a:t>
            </a:r>
            <a:r>
              <a:rPr lang="zh-CN" altLang="en-US" sz="1800" b="0" dirty="0">
                <a:solidFill>
                  <a:schemeClr val="tx1"/>
                </a:solidFill>
              </a:rPr>
              <a:t>估算一个条件大概能筛掉全集的多大比例、根据比例进行排序，然后输出</a:t>
            </a:r>
            <a:r>
              <a:rPr lang="en-US" altLang="zh-CN" sz="1800" b="0" dirty="0" err="1">
                <a:solidFill>
                  <a:schemeClr val="tx1"/>
                </a:solidFill>
              </a:rPr>
              <a:t>ExecutionPlan</a:t>
            </a:r>
            <a:r>
              <a:rPr lang="zh-CN" altLang="en-US" sz="1800" b="0" dirty="0">
                <a:solidFill>
                  <a:schemeClr val="tx1"/>
                </a:solidFill>
              </a:rPr>
              <a:t>对象，即执行的计划。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执行计划：</a:t>
            </a:r>
            <a:r>
              <a:rPr lang="en-US" altLang="zh-CN" sz="1800" b="0" dirty="0" err="1">
                <a:solidFill>
                  <a:schemeClr val="tx1"/>
                </a:solidFill>
              </a:rPr>
              <a:t>PlanExecutor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  <a:r>
              <a:rPr lang="zh-CN" altLang="en-US" sz="1800" b="0" dirty="0">
                <a:solidFill>
                  <a:schemeClr val="tx1"/>
                </a:solidFill>
              </a:rPr>
              <a:t>根据上文输出的</a:t>
            </a:r>
            <a:r>
              <a:rPr lang="en-US" altLang="zh-CN" sz="1800" b="0" dirty="0" err="1">
                <a:solidFill>
                  <a:schemeClr val="tx1"/>
                </a:solidFill>
              </a:rPr>
              <a:t>ExecutionPlan</a:t>
            </a:r>
            <a:r>
              <a:rPr lang="zh-CN" altLang="en-US" sz="1800" b="0" dirty="0">
                <a:solidFill>
                  <a:schemeClr val="tx1"/>
                </a:solidFill>
              </a:rPr>
              <a:t>、</a:t>
            </a:r>
            <a:r>
              <a:rPr lang="en-US" altLang="zh-CN" sz="1800" b="0" dirty="0" err="1">
                <a:solidFill>
                  <a:schemeClr val="tx1"/>
                </a:solidFill>
              </a:rPr>
              <a:t>QueryContext</a:t>
            </a:r>
            <a:r>
              <a:rPr lang="zh-CN" altLang="en-US" sz="1800" b="0" dirty="0">
                <a:solidFill>
                  <a:schemeClr val="tx1"/>
                </a:solidFill>
              </a:rPr>
              <a:t>还有初始的</a:t>
            </a:r>
            <a:r>
              <a:rPr lang="en-US" altLang="zh-CN" sz="1800" b="0" dirty="0" err="1">
                <a:solidFill>
                  <a:schemeClr val="tx1"/>
                </a:solidFill>
              </a:rPr>
              <a:t>MemoryQuery</a:t>
            </a:r>
            <a:r>
              <a:rPr lang="zh-CN" altLang="en-US" sz="1800" b="0" dirty="0">
                <a:solidFill>
                  <a:schemeClr val="tx1"/>
                </a:solidFill>
              </a:rPr>
              <a:t>，</a:t>
            </a:r>
            <a:r>
              <a:rPr lang="en-US" altLang="zh-CN" sz="1800" b="0" dirty="0" err="1">
                <a:solidFill>
                  <a:schemeClr val="tx1"/>
                </a:solidFill>
              </a:rPr>
              <a:t>PlanExecutor</a:t>
            </a:r>
            <a:r>
              <a:rPr lang="zh-CN" altLang="en-US" sz="1800" b="0" dirty="0">
                <a:solidFill>
                  <a:schemeClr val="tx1"/>
                </a:solidFill>
              </a:rPr>
              <a:t>按计划开始筛选候选集。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zh-CN" altLang="en-US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chemeClr val="tx1"/>
                </a:solidFill>
              </a:rPr>
              <a:t>结果适配： </a:t>
            </a:r>
            <a:r>
              <a:rPr lang="en-US" altLang="zh-CN" sz="1800" b="0" dirty="0" err="1">
                <a:solidFill>
                  <a:schemeClr val="tx1"/>
                </a:solidFill>
              </a:rPr>
              <a:t>PruneAdapter</a:t>
            </a:r>
            <a:r>
              <a:rPr lang="zh-CN" altLang="en-US" sz="1800" b="0" dirty="0">
                <a:solidFill>
                  <a:schemeClr val="tx1"/>
                </a:solidFill>
              </a:rPr>
              <a:t>对象为和原有剪枝层对输入对象的要求适配，引入适配层。这样新层依赖既有剪枝器，已经写好的剪枝器不做修改、不反向依赖新层。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zh-CN" altLang="en-US" sz="1800" b="0" dirty="0">
                <a:solidFill>
                  <a:schemeClr val="tx1"/>
                </a:solidFill>
              </a:rPr>
              <a:t>	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469A5A-7953-E7DF-0250-7290369FB5FA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EB44E0-50BF-1A7B-41D9-060F0721D4CA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10FA4C-6295-7009-4DBF-5EDD5C20513B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D842B6-10ED-8DEE-3BC5-AE89245C83DF}"/>
              </a:ext>
            </a:extLst>
          </p:cNvPr>
          <p:cNvSpPr/>
          <p:nvPr/>
        </p:nvSpPr>
        <p:spPr>
          <a:xfrm>
            <a:off x="377890" y="3042508"/>
            <a:ext cx="1626637" cy="155510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PlanExecutor</a:t>
            </a:r>
            <a:endParaRPr lang="zh-CN" altLang="en-US" sz="2000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D807CFE2-3086-F0BA-FB2A-2BEB339DA7AC}"/>
              </a:ext>
            </a:extLst>
          </p:cNvPr>
          <p:cNvSpPr/>
          <p:nvPr/>
        </p:nvSpPr>
        <p:spPr>
          <a:xfrm>
            <a:off x="2212912" y="3613666"/>
            <a:ext cx="914400" cy="46128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A05506-ADDB-97A1-69B7-685CBBB1D2AD}"/>
              </a:ext>
            </a:extLst>
          </p:cNvPr>
          <p:cNvSpPr/>
          <p:nvPr/>
        </p:nvSpPr>
        <p:spPr>
          <a:xfrm>
            <a:off x="3125756" y="3018838"/>
            <a:ext cx="2929812" cy="3965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AttributeFilterOperator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074AF1-0EE6-9695-AC0D-17D8780080E3}"/>
              </a:ext>
            </a:extLst>
          </p:cNvPr>
          <p:cNvSpPr txBox="1"/>
          <p:nvPr/>
        </p:nvSpPr>
        <p:spPr>
          <a:xfrm>
            <a:off x="2261119" y="3368153"/>
            <a:ext cx="771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委托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7387B-C267-06F2-CE16-D5EC1F69892B}"/>
              </a:ext>
            </a:extLst>
          </p:cNvPr>
          <p:cNvSpPr/>
          <p:nvPr/>
        </p:nvSpPr>
        <p:spPr>
          <a:xfrm>
            <a:off x="3166188" y="3785792"/>
            <a:ext cx="2929812" cy="3965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TimeFilterOperator</a:t>
            </a:r>
            <a:endParaRPr lang="zh-CN" altLang="en-US" sz="2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052F95-C476-0126-B8E8-4E0D5C017F49}"/>
              </a:ext>
            </a:extLst>
          </p:cNvPr>
          <p:cNvSpPr/>
          <p:nvPr/>
        </p:nvSpPr>
        <p:spPr>
          <a:xfrm>
            <a:off x="3166188" y="4512713"/>
            <a:ext cx="2929812" cy="39655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GraphExpandOperator</a:t>
            </a:r>
            <a:endParaRPr lang="zh-CN" altLang="en-US" sz="2000" dirty="0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48B6B234-6E5B-6618-D2C3-0E3E4FCDC079}"/>
              </a:ext>
            </a:extLst>
          </p:cNvPr>
          <p:cNvSpPr/>
          <p:nvPr/>
        </p:nvSpPr>
        <p:spPr>
          <a:xfrm>
            <a:off x="6276390" y="3733601"/>
            <a:ext cx="914400" cy="46128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D5E852-F1F7-3916-44A3-A049D36E4B56}"/>
              </a:ext>
            </a:extLst>
          </p:cNvPr>
          <p:cNvSpPr txBox="1"/>
          <p:nvPr/>
        </p:nvSpPr>
        <p:spPr>
          <a:xfrm>
            <a:off x="6375919" y="3429000"/>
            <a:ext cx="771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得到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B92D20-4327-598D-C812-732F8851B9F3}"/>
              </a:ext>
            </a:extLst>
          </p:cNvPr>
          <p:cNvSpPr/>
          <p:nvPr/>
        </p:nvSpPr>
        <p:spPr>
          <a:xfrm>
            <a:off x="7257661" y="3203847"/>
            <a:ext cx="833533" cy="139376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CandidateSet</a:t>
            </a:r>
            <a:r>
              <a:rPr lang="zh-CN" altLang="en-US" sz="2000" dirty="0"/>
              <a:t>对象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F1030F4E-520B-42D0-A22B-07D703D756BB}"/>
              </a:ext>
            </a:extLst>
          </p:cNvPr>
          <p:cNvSpPr/>
          <p:nvPr/>
        </p:nvSpPr>
        <p:spPr>
          <a:xfrm>
            <a:off x="8201605" y="3722522"/>
            <a:ext cx="914400" cy="46128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6CC205B-F081-9F75-EE6E-DEC87D31C0D5}"/>
              </a:ext>
            </a:extLst>
          </p:cNvPr>
          <p:cNvSpPr/>
          <p:nvPr/>
        </p:nvSpPr>
        <p:spPr>
          <a:xfrm>
            <a:off x="9066245" y="3135862"/>
            <a:ext cx="1373152" cy="88321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VectorSearchOperator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BA9CD1-F487-7C70-6779-115DBB382E4E}"/>
              </a:ext>
            </a:extLst>
          </p:cNvPr>
          <p:cNvSpPr txBox="1"/>
          <p:nvPr/>
        </p:nvSpPr>
        <p:spPr>
          <a:xfrm>
            <a:off x="8239708" y="3381126"/>
            <a:ext cx="771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委托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CA624F2-AEBF-A046-0696-32ECB104976C}"/>
              </a:ext>
            </a:extLst>
          </p:cNvPr>
          <p:cNvSpPr/>
          <p:nvPr/>
        </p:nvSpPr>
        <p:spPr>
          <a:xfrm>
            <a:off x="9116008" y="4074947"/>
            <a:ext cx="1323389" cy="10631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LexicalSearchOperator</a:t>
            </a:r>
            <a:endParaRPr lang="zh-CN" altLang="en-US" sz="2000" dirty="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1145A8FB-7B94-8987-6984-B70E7D793B92}"/>
              </a:ext>
            </a:extLst>
          </p:cNvPr>
          <p:cNvSpPr/>
          <p:nvPr/>
        </p:nvSpPr>
        <p:spPr>
          <a:xfrm>
            <a:off x="10500048" y="3801344"/>
            <a:ext cx="914400" cy="46128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2378F42-780F-6E52-F4C5-DA820065BE53}"/>
              </a:ext>
            </a:extLst>
          </p:cNvPr>
          <p:cNvSpPr txBox="1"/>
          <p:nvPr/>
        </p:nvSpPr>
        <p:spPr>
          <a:xfrm>
            <a:off x="10601130" y="3463066"/>
            <a:ext cx="771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1246CBF-5690-630E-57BB-9A66D572F39C}"/>
              </a:ext>
            </a:extLst>
          </p:cNvPr>
          <p:cNvSpPr/>
          <p:nvPr/>
        </p:nvSpPr>
        <p:spPr>
          <a:xfrm>
            <a:off x="11277601" y="3008103"/>
            <a:ext cx="914399" cy="17187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ScoredCandidate</a:t>
            </a:r>
            <a:r>
              <a:rPr lang="zh-CN" altLang="en-US" sz="2000" dirty="0"/>
              <a:t>对象的列表</a:t>
            </a:r>
          </a:p>
        </p:txBody>
      </p:sp>
    </p:spTree>
    <p:extLst>
      <p:ext uri="{BB962C8B-B14F-4D97-AF65-F5344CB8AC3E}">
        <p14:creationId xmlns:p14="http://schemas.microsoft.com/office/powerpoint/2010/main" val="434910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F7DC-4E0D-A781-0713-04DC02CE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C924C2-26A9-68D3-2576-5E9F5B72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初步方案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E8F94E97-F7D4-75DA-0395-C7E71E4E4D3E}"/>
              </a:ext>
            </a:extLst>
          </p:cNvPr>
          <p:cNvSpPr txBox="1"/>
          <p:nvPr/>
        </p:nvSpPr>
        <p:spPr>
          <a:xfrm>
            <a:off x="298135" y="1095124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 数据集获取：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  <a:buFont typeface="Wingdings" panose="05000000000000000000" pitchFamily="2" charset="2"/>
              <a:buChar char="p"/>
            </a:pPr>
            <a:r>
              <a:rPr lang="zh-CN" altLang="en-US" sz="1800" b="0" dirty="0">
                <a:solidFill>
                  <a:schemeClr val="tx1"/>
                </a:solidFill>
              </a:rPr>
              <a:t>主体结构实现：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9998C4-03A7-9516-8A96-2149739DC641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A662EE-ACFB-9E33-B0A2-3936841568F5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F2A949-985B-1C5D-709D-152520C61FFD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FDB5FE-E241-EC5D-E7DD-ACC97A63B46E}"/>
              </a:ext>
            </a:extLst>
          </p:cNvPr>
          <p:cNvSpPr txBox="1"/>
          <p:nvPr/>
        </p:nvSpPr>
        <p:spPr>
          <a:xfrm>
            <a:off x="1480345" y="1577005"/>
            <a:ext cx="10102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LoCoMo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LongMemEval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数据集可直接下载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库未公开三层塔记忆，计划向负责人询问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属性回填：属性往往藏在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raw_data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meta_data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中，需要回填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条件查询评测集需要另外构造，即“时间约束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属性约束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关系约束”得到相关记忆的数据集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05A58B-6251-5E12-795D-628ABD0613C5}"/>
              </a:ext>
            </a:extLst>
          </p:cNvPr>
          <p:cNvSpPr txBox="1"/>
          <p:nvPr/>
        </p:nvSpPr>
        <p:spPr>
          <a:xfrm>
            <a:off x="1128668" y="4367210"/>
            <a:ext cx="10102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建立上下文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QueryContext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，测试新建立的索引查询得到的结果和直接暴力扫描得到的结果相同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CandidateSet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的集合运算实现：测试：集合运算的正确性，以及嵌套运算的正确性等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AttributeFilterOperator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TimeFilterOperator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VectorSearchOperator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GraphExpandOperator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四个算子的实现，测试：每个算子的计算和在整个集合上暴力计算的结果相同，并计算每个算子的时间延迟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7247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D42A-1FD3-7E65-9FF8-B564A253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48095D-DEA7-82D9-7A81-E0406B62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387098"/>
            <a:ext cx="9906000" cy="1036566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5"/>
              </a:spcBef>
              <a:buSzPct val="65000"/>
              <a:tabLst>
                <a:tab pos="354965" algn="l"/>
                <a:tab pos="355600" algn="l"/>
              </a:tabLst>
            </a:pPr>
            <a:r>
              <a:rPr lang="zh-CN" altLang="en-US" sz="3200" spc="-10" dirty="0">
                <a:latin typeface="等线" panose="02010600030101010101" pitchFamily="2" charset="-122"/>
                <a:ea typeface="等线" panose="02010600030101010101" pitchFamily="2" charset="-122"/>
                <a:cs typeface="Palatino Linotype"/>
              </a:rPr>
              <a:t>初步方案</a:t>
            </a:r>
            <a:endParaRPr lang="en-US" altLang="zh-CN" sz="3200" spc="-10" dirty="0">
              <a:latin typeface="等线" panose="02010600030101010101" pitchFamily="2" charset="-122"/>
              <a:ea typeface="等线" panose="02010600030101010101" pitchFamily="2" charset="-122"/>
              <a:cs typeface="Palatino Linotype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ABC3860-2043-D3AD-9401-A831701FF968}"/>
              </a:ext>
            </a:extLst>
          </p:cNvPr>
          <p:cNvSpPr txBox="1"/>
          <p:nvPr/>
        </p:nvSpPr>
        <p:spPr>
          <a:xfrm>
            <a:off x="298135" y="1095124"/>
            <a:ext cx="11893865" cy="1051888"/>
          </a:xfrm>
          <a:prstGeom prst="rect">
            <a:avLst/>
          </a:prstGeom>
          <a:noFill/>
          <a:ln w="9525">
            <a:noFill/>
          </a:ln>
        </p:spPr>
        <p:txBody>
          <a:bodyPr vert="horz" lIns="91416" tIns="45708" rIns="91416" bIns="45708"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2F5597"/>
              </a:buClr>
              <a:buSzPct val="75000"/>
              <a:buFont typeface="Wingdings" panose="05000000000000000000" charset="0"/>
              <a:buChar char="p"/>
              <a:defRPr sz="20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主体结构实现</a:t>
            </a:r>
            <a:r>
              <a:rPr lang="en-US" altLang="zh-CN" sz="1800" b="0" dirty="0">
                <a:solidFill>
                  <a:schemeClr val="tx1"/>
                </a:solidFill>
              </a:rPr>
              <a:t>:</a:t>
            </a: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评测：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defTabSz="1219200">
              <a:lnSpc>
                <a:spcPct val="100000"/>
              </a:lnSpc>
              <a:spcAft>
                <a:spcPts val="1500"/>
              </a:spcAft>
            </a:pPr>
            <a:endParaRPr lang="en-US" altLang="zh-CN" sz="1800" b="0" dirty="0">
              <a:solidFill>
                <a:schemeClr val="tx1"/>
              </a:solidFill>
            </a:endParaRP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	</a:t>
            </a:r>
          </a:p>
          <a:p>
            <a:pPr marL="0" indent="0" defTabSz="1219200">
              <a:lnSpc>
                <a:spcPct val="100000"/>
              </a:lnSpc>
              <a:spcAft>
                <a:spcPts val="1500"/>
              </a:spcAft>
              <a:buNone/>
            </a:pP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EF32C8-ED1F-D54B-C918-3015F44F43F9}"/>
              </a:ext>
            </a:extLst>
          </p:cNvPr>
          <p:cNvSpPr/>
          <p:nvPr/>
        </p:nvSpPr>
        <p:spPr>
          <a:xfrm>
            <a:off x="10923037" y="0"/>
            <a:ext cx="1188098" cy="877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C82684-2C00-FD0A-086E-E42BE433AF76}"/>
              </a:ext>
            </a:extLst>
          </p:cNvPr>
          <p:cNvSpPr/>
          <p:nvPr/>
        </p:nvSpPr>
        <p:spPr>
          <a:xfrm>
            <a:off x="0" y="6655837"/>
            <a:ext cx="3570514" cy="202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F58F88-69E8-1281-7DF1-1E7B02D5CAC3}"/>
              </a:ext>
            </a:extLst>
          </p:cNvPr>
          <p:cNvSpPr txBox="1"/>
          <p:nvPr/>
        </p:nvSpPr>
        <p:spPr>
          <a:xfrm>
            <a:off x="6531429" y="2475722"/>
            <a:ext cx="2027853" cy="3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4B69AD-AC00-BE49-A034-D1749E38B45B}"/>
              </a:ext>
            </a:extLst>
          </p:cNvPr>
          <p:cNvSpPr txBox="1"/>
          <p:nvPr/>
        </p:nvSpPr>
        <p:spPr>
          <a:xfrm>
            <a:off x="1237749" y="1598559"/>
            <a:ext cx="101021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实现规划层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QueryPlanner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，测试：测试顺序确保按照条件筛选的比例升序排列；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plan.describe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能复现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为什么走这条路；不同顺序得到的集合结果和固定顺序的集合结果相同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实现适配器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PruneAdapter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SemanticGraph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smart_search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中接入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candidate_uids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，从而从上至下地将已实现的核心部件连接起来。并实行端到端正确性测试：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graph.query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MemoryQuery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能跑通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F7C073-400E-CCEC-EE1F-2401AF95768F}"/>
              </a:ext>
            </a:extLst>
          </p:cNvPr>
          <p:cNvSpPr txBox="1"/>
          <p:nvPr/>
        </p:nvSpPr>
        <p:spPr>
          <a:xfrm>
            <a:off x="1383705" y="4004131"/>
            <a:ext cx="101021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在原系统上评测原来数据集和条件查询评测集，前者上评测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 accuracy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，后者上测试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Recall@k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nDCG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/P@K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等指标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在新系统上评测原来数据集和条件查询评测集，要求前者的结果大于等于原系统的能力，后者的结果相对原系统得到提升，且达到一个可接受下限（如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2250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3799</Words>
  <Application>Microsoft Office PowerPoint</Application>
  <DocSecurity>0</DocSecurity>
  <PresentationFormat>宽屏</PresentationFormat>
  <Paragraphs>299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等线</vt:lpstr>
      <vt:lpstr>Microsoft YaHei</vt:lpstr>
      <vt:lpstr>Microsoft YaHei</vt:lpstr>
      <vt:lpstr>Arial</vt:lpstr>
      <vt:lpstr>Calibri</vt:lpstr>
      <vt:lpstr>Calibri Light</vt:lpstr>
      <vt:lpstr>Eras Medium ITC</vt:lpstr>
      <vt:lpstr>Palatino Linotype</vt:lpstr>
      <vt:lpstr>Wingdings</vt:lpstr>
      <vt:lpstr>Office 主题​​</vt:lpstr>
      <vt:lpstr>Mandol融合索引增强:初步方案研讨</vt:lpstr>
      <vt:lpstr>目录</vt:lpstr>
      <vt:lpstr>原有系统理解</vt:lpstr>
      <vt:lpstr>原有系统理解</vt:lpstr>
      <vt:lpstr>原有系统理解</vt:lpstr>
      <vt:lpstr>原有系统理解</vt:lpstr>
      <vt:lpstr>原有系统理解</vt:lpstr>
      <vt:lpstr>原有系统理解</vt:lpstr>
      <vt:lpstr>需求陈述</vt:lpstr>
      <vt:lpstr>需求陈述</vt:lpstr>
      <vt:lpstr>差距分析</vt:lpstr>
      <vt:lpstr>扩展定位：加在哪</vt:lpstr>
      <vt:lpstr>扩展定位：加在哪</vt:lpstr>
      <vt:lpstr>新增对象建模</vt:lpstr>
      <vt:lpstr>新增对象建模</vt:lpstr>
      <vt:lpstr>初步方案</vt:lpstr>
      <vt:lpstr>初步方案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菁 唐</cp:lastModifiedBy>
  <cp:revision>88</cp:revision>
  <dcterms:created xsi:type="dcterms:W3CDTF">2026-08-20T12:56:01Z</dcterms:created>
  <dcterms:modified xsi:type="dcterms:W3CDTF">2026-10-21T08:14:03Z</dcterms:modified>
</cp:coreProperties>
</file>